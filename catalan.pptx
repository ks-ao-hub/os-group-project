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71" r:id="rId2"/>
    <p:sldId id="257" r:id="rId3"/>
    <p:sldId id="280" r:id="rId4"/>
    <p:sldId id="272" r:id="rId5"/>
    <p:sldId id="279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5F69"/>
    <a:srgbClr val="9CCB3B"/>
    <a:srgbClr val="E97132"/>
    <a:srgbClr val="F080A0"/>
    <a:srgbClr val="FF6987"/>
    <a:srgbClr val="CD794F"/>
    <a:srgbClr val="009374"/>
    <a:srgbClr val="EDEBD1"/>
    <a:srgbClr val="006747"/>
    <a:srgbClr val="7E9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90"/>
    <p:restoredTop sz="94674"/>
  </p:normalViewPr>
  <p:slideViewPr>
    <p:cSldViewPr snapToGrid="0" snapToObjects="1">
      <p:cViewPr varScale="1">
        <p:scale>
          <a:sx n="107" d="100"/>
          <a:sy n="107" d="100"/>
        </p:scale>
        <p:origin x="4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80483-8405-594F-95F8-D3FBF1CBF06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D8171-8004-1F48-80C5-5F8F56F0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Full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B3CE40-2622-4F41-8961-58114E223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50875"/>
            <a:ext cx="7886700" cy="2721942"/>
          </a:xfrm>
        </p:spPr>
        <p:txBody>
          <a:bodyPr anchor="b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3CEB366-DFFF-124E-8FB2-DD516677BB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8" y="3122192"/>
            <a:ext cx="7886700" cy="676142"/>
          </a:xfrm>
        </p:spPr>
        <p:txBody>
          <a:bodyPr>
            <a:normAutofit/>
          </a:bodyPr>
          <a:lstStyle>
            <a:lvl1pPr marL="0" indent="0">
              <a:buNone/>
              <a:defRPr sz="2000" b="1" spc="10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F3BBD9-46E9-8D4F-A360-C22BF20FBA4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23888" y="6157797"/>
            <a:ext cx="7886700" cy="297332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45DD4-339C-334E-8C02-D6D08DCD66D5}"/>
              </a:ext>
            </a:extLst>
          </p:cNvPr>
          <p:cNvSpPr/>
          <p:nvPr userDrawn="1"/>
        </p:nvSpPr>
        <p:spPr>
          <a:xfrm>
            <a:off x="729592" y="1041869"/>
            <a:ext cx="2224875" cy="45719"/>
          </a:xfrm>
          <a:prstGeom prst="rect">
            <a:avLst/>
          </a:prstGeom>
          <a:solidFill>
            <a:srgbClr val="9CC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CCB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8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7F4A7CB-4718-A447-80A8-5473DB78B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371" y="2094614"/>
            <a:ext cx="9391983" cy="2934587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E5BDA0-03D1-C146-9B1B-7C72703AA1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45371" y="5164286"/>
            <a:ext cx="9391983" cy="562570"/>
          </a:xfrm>
        </p:spPr>
        <p:txBody>
          <a:bodyPr>
            <a:normAutofit/>
          </a:bodyPr>
          <a:lstStyle>
            <a:lvl1pPr marL="0" indent="0" algn="l">
              <a:buNone/>
              <a:defRPr sz="2000" b="1" spc="1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CF1996-1198-744A-8757-1DDCD1FC39F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645371" y="5998308"/>
            <a:ext cx="9391984" cy="317431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</p:spTree>
    <p:extLst>
      <p:ext uri="{BB962C8B-B14F-4D97-AF65-F5344CB8AC3E}">
        <p14:creationId xmlns:p14="http://schemas.microsoft.com/office/powerpoint/2010/main" val="157339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F41A4C7-71D0-F543-85C9-D64704F6B9E2}"/>
              </a:ext>
            </a:extLst>
          </p:cNvPr>
          <p:cNvSpPr txBox="1">
            <a:spLocks/>
          </p:cNvSpPr>
          <p:nvPr userDrawn="1"/>
        </p:nvSpPr>
        <p:spPr>
          <a:xfrm>
            <a:off x="1155514" y="2892056"/>
            <a:ext cx="9391983" cy="2137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765212-81AD-C342-9C12-8BB02A67A75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00009" y="4239253"/>
            <a:ext cx="9391983" cy="562570"/>
          </a:xfrm>
        </p:spPr>
        <p:txBody>
          <a:bodyPr>
            <a:normAutofit/>
          </a:bodyPr>
          <a:lstStyle>
            <a:lvl1pPr marL="0" indent="0" algn="ctr">
              <a:buNone/>
              <a:defRPr sz="2000" b="1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9F87BE-4311-2B4D-A077-360A5BDA2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400008" y="5073275"/>
            <a:ext cx="9391984" cy="317431"/>
          </a:xfr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effectLst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Presenter Name // 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72D2B3-E9E1-8142-ACC5-5E65A9395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009" y="1966382"/>
            <a:ext cx="9391983" cy="2137145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18818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64" y="1825625"/>
            <a:ext cx="11410507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745E4-CF50-F14A-9132-FCC34309C172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09374"/>
              </a:solidFill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EAFC3AB-FC99-AE43-8446-A0A029A5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72B3ABB-4B87-4A4A-8769-A299692E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264" y="1799674"/>
            <a:ext cx="5541336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2701" y="1815735"/>
            <a:ext cx="5520070" cy="435133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9559-62B2-BF48-8F3A-9069A678D3AE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F84629-2AEE-AC46-A2B9-D6494996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1CC9F214-4B8F-A241-8F1B-D5E3B977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229204AD-66DA-504B-8B4C-AA518732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5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8307C2-269E-6B46-9210-24C46DB68A7C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9786AE96-593E-3F4B-956A-36180B15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594D8FC-9BA2-7B43-8255-2E9B9355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81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9FDD1-20F6-A041-84EF-F23B06693DDB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8FE732FD-3F1B-8C41-AABB-86AC72BB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70483349-AF9B-3144-ABCA-85EEF730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6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3E3B2-14A7-1448-8CD6-3BBB6DBF6AA9}"/>
              </a:ext>
            </a:extLst>
          </p:cNvPr>
          <p:cNvSpPr/>
          <p:nvPr userDrawn="1"/>
        </p:nvSpPr>
        <p:spPr>
          <a:xfrm>
            <a:off x="0" y="6219913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C2B3DFD-A919-2547-BB50-41E59A35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5E3EBCA8-C9B6-4146-BA77-60B44AEC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1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208D45BA-F118-4448-BA38-034BBE4444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"/>
            <a:ext cx="6096000" cy="621746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293F8-4E1A-5846-82A0-E53916ADD1FB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Content Placeholder 26">
            <a:extLst>
              <a:ext uri="{FF2B5EF4-FFF2-40B4-BE49-F238E27FC236}">
                <a16:creationId xmlns:a16="http://schemas.microsoft.com/office/drawing/2014/main" id="{CA685156-FE7B-2544-969A-7A1FCE2D18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265" y="1616151"/>
            <a:ext cx="5430253" cy="44994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2000">
                <a:solidFill>
                  <a:schemeClr val="tx2"/>
                </a:solidFill>
              </a:defRPr>
            </a:lvl2pPr>
            <a:lvl3pPr marL="914377" indent="0">
              <a:buNone/>
              <a:defRPr sz="1800">
                <a:solidFill>
                  <a:schemeClr val="tx2"/>
                </a:solidFill>
              </a:defRPr>
            </a:lvl3pPr>
            <a:lvl4pPr marL="1371566" indent="0">
              <a:buNone/>
              <a:defRPr sz="1800">
                <a:solidFill>
                  <a:schemeClr val="tx2"/>
                </a:solidFill>
              </a:defRPr>
            </a:lvl4pPr>
            <a:lvl5pPr marL="1828755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AE3C7A5-D987-6642-8759-74EFF7E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5" y="772701"/>
            <a:ext cx="5430254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D042DFD-B5BC-FA48-977F-CFCA7F7F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FA86EF7-130D-564A-B96B-825B85BF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6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217467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C1E35-476E-DC49-989E-58325A1DCCD5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052AC19-5F07-4D4A-9C6D-F8353253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3659B61-A781-0B47-9008-7F6690FC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47C7CC0E-96D9-6644-B53D-9DE9FFD2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28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304485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150642"/>
            <a:ext cx="4651708" cy="3052708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DEA8F8-FC46-AE40-836E-1F1356373439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671B4F4-B7CE-4C4F-B7A3-2BC62CB8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30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D97DAD4-3DC5-9240-A8F4-0E40A6F3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30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A72233A2-CB91-9640-A9FB-40F031FB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DE837D9-31FB-6747-BB5D-30313C2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41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2022145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133604"/>
            <a:ext cx="4651708" cy="1981196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226259"/>
            <a:ext cx="4651708" cy="1982967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0A44D2-66BE-7D48-A9AA-5CD3E0CEFEC5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7ABA9CF-0A24-444C-AB70-18A7DF1F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64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5C99FBA0-60F6-434C-861C-F6CAF1C7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E0A42E5-B548-F448-93F1-22FA96290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93612A34-351C-3A40-8806-466A7A17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0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4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" y="-1"/>
            <a:ext cx="4651708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" y="2072643"/>
            <a:ext cx="2263242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7"/>
            <a:ext cx="4651709" cy="207217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8" y="2072643"/>
            <a:ext cx="2263242" cy="197215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BBB07D-D36E-EF4E-8766-BDDCE6AD9879}"/>
              </a:ext>
            </a:extLst>
          </p:cNvPr>
          <p:cNvSpPr/>
          <p:nvPr userDrawn="1"/>
        </p:nvSpPr>
        <p:spPr>
          <a:xfrm>
            <a:off x="0" y="6217467"/>
            <a:ext cx="12192000" cy="638087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46467BF-103E-D042-9F56-E8D47EC1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816" y="1825625"/>
            <a:ext cx="6890076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9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5C606F1-D2F6-D546-8440-5F168D4D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816" y="772701"/>
            <a:ext cx="6890075" cy="917987"/>
          </a:xfrm>
        </p:spPr>
        <p:txBody>
          <a:bodyPr anchor="t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F643ECD6-6049-594B-8CA6-9348B7B4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>
            <a:lvl1pPr algn="l">
              <a:defRPr sz="1100" kern="1000" spc="2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UNIVERSITY OF SOUTH FLORIDA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3F176444-485B-9E48-AA69-93CB5928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0971" y="6402431"/>
            <a:ext cx="4318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08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50C326-F360-A14D-9848-141A98A3BE83}"/>
              </a:ext>
            </a:extLst>
          </p:cNvPr>
          <p:cNvSpPr/>
          <p:nvPr userDrawn="1"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2585FEE-3C3C-0C4A-B489-9B8D843817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1844150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092343-A20F-9344-8BD6-7CDD800CA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277104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Full Patter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D55C-89B3-834C-BFFF-D077C6375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16" y="2493335"/>
            <a:ext cx="10497768" cy="1871330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/ Simple Break Section</a:t>
            </a:r>
          </a:p>
        </p:txBody>
      </p:sp>
    </p:spTree>
    <p:extLst>
      <p:ext uri="{BB962C8B-B14F-4D97-AF65-F5344CB8AC3E}">
        <p14:creationId xmlns:p14="http://schemas.microsoft.com/office/powerpoint/2010/main" val="2792439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1098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72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8F2DC234-8FA0-3D45-A2E6-8427DF8C1B9D}"/>
              </a:ext>
            </a:extLst>
          </p:cNvPr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D423D6B-2263-1143-9038-996FA4197F05}"/>
              </a:ext>
            </a:extLst>
          </p:cNvPr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B17B4A7-CF1A-0C48-A592-305AD063C6A4}"/>
              </a:ext>
            </a:extLst>
          </p:cNvPr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67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136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B64B9-90AB-3045-9F9C-162A42097C10}"/>
              </a:ext>
            </a:extLst>
          </p:cNvPr>
          <p:cNvSpPr/>
          <p:nvPr userDrawn="1"/>
        </p:nvSpPr>
        <p:spPr>
          <a:xfrm>
            <a:off x="0" y="1"/>
            <a:ext cx="12192000" cy="6855553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66735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Gradi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048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687FF-D228-AF49-87D5-A473DBACE8E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SOUTH FLORIDA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B0964-E4AE-1949-A7E1-C41B06CBF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6" r:id="rId2"/>
    <p:sldLayoutId id="2147483677" r:id="rId3"/>
    <p:sldLayoutId id="2147483662" r:id="rId4"/>
    <p:sldLayoutId id="2147483664" r:id="rId5"/>
    <p:sldLayoutId id="2147483663" r:id="rId6"/>
    <p:sldLayoutId id="2147483665" r:id="rId7"/>
    <p:sldLayoutId id="2147483668" r:id="rId8"/>
    <p:sldLayoutId id="2147483669" r:id="rId9"/>
    <p:sldLayoutId id="2147483678" r:id="rId10"/>
    <p:sldLayoutId id="2147483679" r:id="rId11"/>
    <p:sldLayoutId id="2147483680" r:id="rId12"/>
    <p:sldLayoutId id="2147483681" r:id="rId13"/>
    <p:sldLayoutId id="2147483666" r:id="rId14"/>
    <p:sldLayoutId id="2147483674" r:id="rId15"/>
    <p:sldLayoutId id="2147483675" r:id="rId16"/>
    <p:sldLayoutId id="2147483682" r:id="rId17"/>
    <p:sldLayoutId id="2147483683" r:id="rId18"/>
    <p:sldLayoutId id="2147483684" r:id="rId19"/>
    <p:sldLayoutId id="2147483667" r:id="rId20"/>
    <p:sldLayoutId id="2147483670" r:id="rId21"/>
    <p:sldLayoutId id="2147483685" r:id="rId22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0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345F3AF-49CF-CF48-BAE0-F175970B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Catalan Numbers in a Multithreading System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706B67-D139-684B-BAE9-AE684408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 6611 -  Operating Systems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663FB65-62ED-DD43-A749-E37142EB31F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Ariel Gomez, Yoel Polanco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2AB8D2-B6F8-DF47-8FE3-9191230154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2507" y="6066815"/>
            <a:ext cx="2828276" cy="4817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5A0142-FBA2-4045-AA65-848BAAA24F09}"/>
              </a:ext>
            </a:extLst>
          </p:cNvPr>
          <p:cNvSpPr/>
          <p:nvPr/>
        </p:nvSpPr>
        <p:spPr>
          <a:xfrm>
            <a:off x="1736589" y="5765478"/>
            <a:ext cx="2224875" cy="45719"/>
          </a:xfrm>
          <a:prstGeom prst="rect">
            <a:avLst/>
          </a:prstGeom>
          <a:solidFill>
            <a:srgbClr val="9CC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CCB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79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1552-3E8D-AC46-ADA9-3E2E0333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Catalan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899071-5D4E-E842-8268-8CD319DBFD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64" y="1825625"/>
                <a:ext cx="7714693" cy="43513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Sequence of numbers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1, 2, 5, 14, 42, 132, 429, 1430, 4862, 16796, 58786, 208012, 742900, 2674440, 9694845…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Commonly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Closed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Sums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899071-5D4E-E842-8268-8CD319DBF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64" y="1825625"/>
                <a:ext cx="7714693" cy="4351339"/>
              </a:xfrm>
              <a:blipFill>
                <a:blip r:embed="rId2"/>
                <a:stretch>
                  <a:fillRect l="-1264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4D134-B645-6440-A1F5-73CEC1A3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SOUTH FLORIDA</a:t>
            </a:r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F602B06-601E-6787-0493-5B1BFCFED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798"/>
          <a:stretch>
            <a:fillRect/>
          </a:stretch>
        </p:blipFill>
        <p:spPr>
          <a:xfrm>
            <a:off x="7137741" y="3591485"/>
            <a:ext cx="5054259" cy="239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36D3A8-FA91-5B17-8129-5BF37FDF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5" y="365125"/>
            <a:ext cx="4127402" cy="1325563"/>
          </a:xfrm>
        </p:spPr>
        <p:txBody>
          <a:bodyPr/>
          <a:lstStyle/>
          <a:p>
            <a:r>
              <a:rPr lang="en-US" dirty="0"/>
              <a:t>Computer Uses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ACE8A-2C8F-4DB4-4DD8-CA2540E4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B01056E-C516-443B-4EE7-4EB9E0819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263" y="1799674"/>
            <a:ext cx="5693737" cy="43513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“This is probably the longest entry in the OEIS, and rightly so.” (OEIS)</a:t>
            </a:r>
          </a:p>
          <a:p>
            <a:r>
              <a:rPr lang="en-US" b="1" dirty="0">
                <a:solidFill>
                  <a:srgbClr val="455F69"/>
                </a:solidFill>
              </a:rPr>
              <a:t>Balanced parenthesis: </a:t>
            </a:r>
            <a:r>
              <a:rPr lang="en-US" dirty="0"/>
              <a:t>nu</a:t>
            </a:r>
            <a:r>
              <a:rPr lang="en-US" dirty="0">
                <a:solidFill>
                  <a:srgbClr val="455F69"/>
                </a:solidFill>
              </a:rPr>
              <a:t>m</a:t>
            </a:r>
            <a:r>
              <a:rPr lang="en-US" dirty="0"/>
              <a:t>ber of ways to insert n pairs of parentheses in a word of n+1 letters.</a:t>
            </a:r>
          </a:p>
          <a:p>
            <a:r>
              <a:rPr lang="en-US" b="1" dirty="0">
                <a:solidFill>
                  <a:srgbClr val="455F69"/>
                </a:solidFill>
              </a:rPr>
              <a:t>Non-intersecting chords: </a:t>
            </a:r>
            <a:r>
              <a:rPr lang="en-US" dirty="0"/>
              <a:t>Number of ways of joining 2n points on a circle to form n nonintersecting chords</a:t>
            </a:r>
          </a:p>
          <a:p>
            <a:r>
              <a:rPr lang="en-US" b="1" dirty="0">
                <a:solidFill>
                  <a:srgbClr val="455F69"/>
                </a:solidFill>
              </a:rPr>
              <a:t>Binary Trees: </a:t>
            </a:r>
            <a:r>
              <a:rPr lang="en-US" dirty="0"/>
              <a:t>number of rooted binary trees with n internal nodes.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18" name="Content Placeholder 21">
            <a:extLst>
              <a:ext uri="{FF2B5EF4-FFF2-40B4-BE49-F238E27FC236}">
                <a16:creationId xmlns:a16="http://schemas.microsoft.com/office/drawing/2014/main" id="{2D4CEBBF-0110-FADA-C6C4-37DA4C4D03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9198" y="1690688"/>
            <a:ext cx="5167363" cy="27220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909B30-B3AA-05F9-F468-971F4885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9" r="4593"/>
          <a:stretch>
            <a:fillRect/>
          </a:stretch>
        </p:blipFill>
        <p:spPr>
          <a:xfrm>
            <a:off x="9269229" y="4412701"/>
            <a:ext cx="2852421" cy="1624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09F366-477B-9271-B9D2-D908089A02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3" r="2566"/>
          <a:stretch>
            <a:fillRect/>
          </a:stretch>
        </p:blipFill>
        <p:spPr>
          <a:xfrm>
            <a:off x="6489198" y="4412701"/>
            <a:ext cx="2722881" cy="175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71555A-F350-3CF8-04A4-71144124F36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1638" y="1800225"/>
                <a:ext cx="586200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grows exponentially!</a:t>
                </a:r>
              </a:p>
              <a:p>
                <a:pPr/>
                <a:r>
                  <a:rPr lang="en-US" i="0" dirty="0">
                    <a:latin typeface="+mj-lt"/>
                  </a:rPr>
                  <a:t>Time Complexity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Dp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ï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Space complexity: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Must store all previous values</a:t>
                </a:r>
              </a:p>
              <a:p>
                <a:r>
                  <a:rPr lang="en-US" dirty="0"/>
                  <a:t>Integer overflow occurs quickly</a:t>
                </a:r>
              </a:p>
              <a:p>
                <a:pPr lvl="1"/>
                <a:r>
                  <a:rPr lang="en-US" dirty="0"/>
                  <a:t>Limit reached around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71555A-F350-3CF8-04A4-71144124F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1638" y="1800225"/>
                <a:ext cx="5862002" cy="4351338"/>
              </a:xfrm>
              <a:blipFill>
                <a:blip r:embed="rId2"/>
                <a:stretch>
                  <a:fillRect l="-187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28AE832F-2D71-D278-EE41-040F1411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365125"/>
            <a:ext cx="11410507" cy="1325563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8432E-66C9-8EB6-DD45-6FB8F2A4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264" y="6431775"/>
            <a:ext cx="8061251" cy="273050"/>
          </a:xfrm>
        </p:spPr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30A92D6-CA05-13A8-79DC-04B63D637D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95880" y="2185255"/>
            <a:ext cx="5571977" cy="316398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0B8CC0-94A3-3FBC-8E66-E22F56DE59DC}"/>
              </a:ext>
            </a:extLst>
          </p:cNvPr>
          <p:cNvCxnSpPr>
            <a:cxnSpLocks/>
          </p:cNvCxnSpPr>
          <p:nvPr/>
        </p:nvCxnSpPr>
        <p:spPr>
          <a:xfrm flipH="1">
            <a:off x="10129651" y="2185255"/>
            <a:ext cx="47501" cy="2826132"/>
          </a:xfrm>
          <a:prstGeom prst="line">
            <a:avLst/>
          </a:prstGeom>
          <a:ln w="38100">
            <a:solidFill>
              <a:srgbClr val="FF0000">
                <a:alpha val="57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09733F-D5DF-6C1B-73A0-89F062975101}"/>
                  </a:ext>
                </a:extLst>
              </p:cNvPr>
              <p:cNvSpPr txBox="1"/>
              <p:nvPr/>
            </p:nvSpPr>
            <p:spPr>
              <a:xfrm>
                <a:off x="10305311" y="2316802"/>
                <a:ext cx="1662546" cy="3466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594" indent="-228594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i="1">
                    <a:solidFill>
                      <a:schemeClr val="tx2"/>
                    </a:solidFill>
                    <a:latin typeface="Cambria Math" panose="02040503050406030204" pitchFamily="18" charset="0"/>
                  </a:defRPr>
                </a:lvl1pPr>
                <a:lvl2pPr marL="685783" lvl="1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>
                    <a:solidFill>
                      <a:schemeClr val="tx2"/>
                    </a:solidFill>
                    <a:latin typeface="Cambria Math" panose="02040503050406030204" pitchFamily="18" charset="0"/>
                  </a:defRPr>
                </a:lvl2pPr>
                <a:lvl3pPr marL="1142971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</a:defRPr>
                </a:lvl3pPr>
                <a:lvl4pPr marL="1600160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4pPr>
                <a:lvl5pPr marL="2057349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5pPr>
                <a:lvl6pPr marL="2514537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726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8914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103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marL="0" indent="0">
                  <a:buNone/>
                </a:pPr>
                <a:r>
                  <a:rPr lang="en-US" sz="1400" dirty="0">
                    <a:solidFill>
                      <a:srgbClr val="FF0000"/>
                    </a:solidFill>
                  </a:rPr>
                  <a:t>Explodes after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09733F-D5DF-6C1B-73A0-89F062975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311" y="2316802"/>
                <a:ext cx="1662546" cy="346615"/>
              </a:xfrm>
              <a:prstGeom prst="rect">
                <a:avLst/>
              </a:prstGeom>
              <a:blipFill>
                <a:blip r:embed="rId4"/>
                <a:stretch>
                  <a:fillRect l="-368" t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945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FC38F14-52B9-8D90-DB5C-3C13B6D0F4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2264" y="1799674"/>
                <a:ext cx="5090074" cy="435133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depends on all previous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​…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Each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computed independently</a:t>
                </a:r>
              </a:p>
              <a:p>
                <a:pPr lvl="1"/>
                <a:r>
                  <a:rPr lang="en-US" dirty="0"/>
                  <a:t>Threads compute terms in parallel</a:t>
                </a:r>
              </a:p>
              <a:p>
                <a:pPr lvl="1"/>
                <a:r>
                  <a:rPr lang="en-US" dirty="0"/>
                  <a:t>Parent thread sums the terms</a:t>
                </a:r>
              </a:p>
              <a:p>
                <a:pPr lvl="1"/>
                <a:r>
                  <a:rPr lang="en-US" dirty="0"/>
                  <a:t>Parallelism applies within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/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but not across different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FC38F14-52B9-8D90-DB5C-3C13B6D0F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2264" y="1799674"/>
                <a:ext cx="5090074" cy="4351339"/>
              </a:xfrm>
              <a:blipFill>
                <a:blip r:embed="rId2"/>
                <a:stretch>
                  <a:fillRect l="-2156" t="-2381" r="-2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D4227124-A71A-DF3C-7543-93507A26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C4F44-90E4-A486-9C8D-24DA4815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7F6C5769-7E39-A43F-53EC-64E30FCEC4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28369"/>
          <a:stretch>
            <a:fillRect/>
          </a:stretch>
        </p:blipFill>
        <p:spPr>
          <a:xfrm>
            <a:off x="5927099" y="1971319"/>
            <a:ext cx="6264901" cy="291536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FC83F5-ABC2-3894-3C15-FAFE50CA7F30}"/>
              </a:ext>
            </a:extLst>
          </p:cNvPr>
          <p:cNvSpPr/>
          <p:nvPr/>
        </p:nvSpPr>
        <p:spPr>
          <a:xfrm>
            <a:off x="6591030" y="2279331"/>
            <a:ext cx="735495" cy="40097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689925-820B-2D46-2DF1-112C5F005A15}"/>
              </a:ext>
            </a:extLst>
          </p:cNvPr>
          <p:cNvSpPr/>
          <p:nvPr/>
        </p:nvSpPr>
        <p:spPr>
          <a:xfrm>
            <a:off x="7549463" y="2680309"/>
            <a:ext cx="1539600" cy="400979"/>
          </a:xfrm>
          <a:prstGeom prst="roundRect">
            <a:avLst/>
          </a:prstGeom>
          <a:solidFill>
            <a:srgbClr val="F080A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2D4AAB-49D8-E96B-A692-55C7B62A8075}"/>
              </a:ext>
            </a:extLst>
          </p:cNvPr>
          <p:cNvSpPr/>
          <p:nvPr/>
        </p:nvSpPr>
        <p:spPr>
          <a:xfrm>
            <a:off x="6591030" y="2707485"/>
            <a:ext cx="735495" cy="40097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F16232-B9D5-1C25-F4CF-45D08FA94A64}"/>
              </a:ext>
            </a:extLst>
          </p:cNvPr>
          <p:cNvSpPr/>
          <p:nvPr/>
        </p:nvSpPr>
        <p:spPr>
          <a:xfrm>
            <a:off x="6594544" y="3135308"/>
            <a:ext cx="1576601" cy="40097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3117D7-99A8-20C0-1304-7971A6B49BE2}"/>
              </a:ext>
            </a:extLst>
          </p:cNvPr>
          <p:cNvSpPr/>
          <p:nvPr/>
        </p:nvSpPr>
        <p:spPr>
          <a:xfrm>
            <a:off x="8467530" y="3108464"/>
            <a:ext cx="1539600" cy="400979"/>
          </a:xfrm>
          <a:prstGeom prst="roundRect">
            <a:avLst/>
          </a:prstGeom>
          <a:solidFill>
            <a:srgbClr val="F080A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FA6D23-F3E4-6088-EC42-2068A8956399}"/>
              </a:ext>
            </a:extLst>
          </p:cNvPr>
          <p:cNvSpPr/>
          <p:nvPr/>
        </p:nvSpPr>
        <p:spPr>
          <a:xfrm>
            <a:off x="6587715" y="1851176"/>
            <a:ext cx="735495" cy="40097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BAB640-AED2-2CF7-85D9-944D39B03D12}"/>
              </a:ext>
            </a:extLst>
          </p:cNvPr>
          <p:cNvSpPr/>
          <p:nvPr/>
        </p:nvSpPr>
        <p:spPr>
          <a:xfrm>
            <a:off x="7542839" y="2262871"/>
            <a:ext cx="1539600" cy="400979"/>
          </a:xfrm>
          <a:prstGeom prst="roundRect">
            <a:avLst/>
          </a:prstGeom>
          <a:solidFill>
            <a:srgbClr val="F080A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8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52A18D-DBEB-07F5-D91D-0C0BB588AD5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2264" y="1799674"/>
                <a:ext cx="4950721" cy="43513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>
                    <a:solidFill>
                      <a:srgbClr val="455F69"/>
                    </a:solidFill>
                  </a:rPr>
                  <a:t>Plain recursion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 </a:t>
                </a:r>
                <a:r>
                  <a:rPr lang="en-US" dirty="0"/>
                  <a:t>Simple implementation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 </a:t>
                </a:r>
                <a:r>
                  <a:rPr lang="en-US" dirty="0"/>
                  <a:t>Works for small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FF6987"/>
                    </a:solidFill>
                  </a:rPr>
                  <a:t>(-) </a:t>
                </a:r>
                <a:r>
                  <a:rPr lang="en-US" sz="2500" dirty="0"/>
                  <a:t>R</a:t>
                </a:r>
                <a:r>
                  <a:rPr lang="en-US" dirty="0"/>
                  <a:t>edundant computation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FF6987"/>
                    </a:solidFill>
                  </a:rPr>
                  <a:t>(-) </a:t>
                </a:r>
                <a:r>
                  <a:rPr lang="en-US" dirty="0"/>
                  <a:t>Stack overflow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FF6987"/>
                    </a:solidFill>
                  </a:rPr>
                  <a:t>(-)</a:t>
                </a:r>
                <a:r>
                  <a:rPr lang="en-US" dirty="0"/>
                  <a:t> Poor scalability</a:t>
                </a:r>
              </a:p>
              <a:p>
                <a:r>
                  <a:rPr lang="en-US" b="1" dirty="0">
                    <a:solidFill>
                      <a:srgbClr val="455F69"/>
                    </a:solidFill>
                  </a:rPr>
                  <a:t>Memoized recursion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</a:t>
                </a:r>
                <a:r>
                  <a:rPr lang="en-US" dirty="0"/>
                  <a:t> Avoids redundant computation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</a:t>
                </a:r>
                <a:r>
                  <a:rPr lang="en-US" dirty="0"/>
                  <a:t> Faster than naïve recursion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</a:t>
                </a:r>
                <a:r>
                  <a:rPr lang="en-US" dirty="0"/>
                  <a:t> Parallelizable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F080A0"/>
                    </a:solidFill>
                  </a:rPr>
                  <a:t>(-)</a:t>
                </a:r>
                <a:r>
                  <a:rPr lang="en-US" dirty="0"/>
                  <a:t> Recursion overhead</a:t>
                </a:r>
              </a:p>
              <a:p>
                <a:r>
                  <a:rPr lang="en-US" b="1" dirty="0">
                    <a:solidFill>
                      <a:srgbClr val="455F69"/>
                    </a:solidFill>
                  </a:rPr>
                  <a:t>Iterative DP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 </a:t>
                </a:r>
                <a:r>
                  <a:rPr lang="en-US" dirty="0"/>
                  <a:t>Fast and Efficient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</a:t>
                </a:r>
                <a:r>
                  <a:rPr lang="en-US" dirty="0"/>
                  <a:t> Stable (no recursion)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(+)</a:t>
                </a:r>
                <a:r>
                  <a:rPr lang="en-US" dirty="0"/>
                  <a:t> Best for large n</a:t>
                </a:r>
              </a:p>
              <a:p>
                <a:pPr marL="457189" lvl="1" indent="0">
                  <a:buNone/>
                </a:pPr>
                <a:r>
                  <a:rPr lang="en-US" dirty="0">
                    <a:solidFill>
                      <a:srgbClr val="FF6987"/>
                    </a:solidFill>
                  </a:rPr>
                  <a:t>(-)</a:t>
                </a:r>
                <a:r>
                  <a:rPr lang="en-US" dirty="0"/>
                  <a:t> Limited parallelization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52A18D-DBEB-07F5-D91D-0C0BB588A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2264" y="1799674"/>
                <a:ext cx="4950721" cy="4351339"/>
              </a:xfrm>
              <a:blipFill>
                <a:blip r:embed="rId2"/>
                <a:stretch>
                  <a:fillRect l="-110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50951B58-0855-2B93-5B27-11C3FB65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Solution/Issues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65555-6A05-2F81-9E6D-7A429387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SOUTH FLORIDA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9D445C-59E2-401F-0816-D148533F9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3"/>
          <a:stretch>
            <a:fillRect/>
          </a:stretch>
        </p:blipFill>
        <p:spPr>
          <a:xfrm>
            <a:off x="4738253" y="1787551"/>
            <a:ext cx="3788231" cy="1704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574633-52EB-B01D-46DF-66902A6BB9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1"/>
          <a:stretch>
            <a:fillRect/>
          </a:stretch>
        </p:blipFill>
        <p:spPr>
          <a:xfrm>
            <a:off x="4738252" y="3600554"/>
            <a:ext cx="3788231" cy="2485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752B6B-903B-41A2-AAB6-50DA071CE2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96"/>
          <a:stretch>
            <a:fillRect/>
          </a:stretch>
        </p:blipFill>
        <p:spPr>
          <a:xfrm>
            <a:off x="8662056" y="2679762"/>
            <a:ext cx="3399316" cy="2591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582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05C86-1588-F943-FD88-08AD735CF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264" y="1390262"/>
            <a:ext cx="5693736" cy="4760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Methodology:</a:t>
            </a:r>
          </a:p>
          <a:p>
            <a:pPr marL="0" indent="0">
              <a:buNone/>
            </a:pPr>
            <a:r>
              <a:rPr lang="en-US" dirty="0"/>
              <a:t>1. Initialize C(0)</a:t>
            </a:r>
            <a:br>
              <a:rPr lang="en-US" dirty="0"/>
            </a:br>
            <a:r>
              <a:rPr lang="en-US" dirty="0"/>
              <a:t>2. Assign one manager thread per Catalan number ( 0 excluded )</a:t>
            </a:r>
            <a:br>
              <a:rPr lang="en-US" dirty="0"/>
            </a:br>
            <a:r>
              <a:rPr lang="en-US" dirty="0"/>
              <a:t>3. Wait for dependencies to be satisfied</a:t>
            </a:r>
            <a:br>
              <a:rPr lang="en-US" dirty="0"/>
            </a:br>
            <a:r>
              <a:rPr lang="en-US" dirty="0"/>
              <a:t>4. Split each recurrence into worker-thread chunks</a:t>
            </a:r>
            <a:br>
              <a:rPr lang="en-US" dirty="0"/>
            </a:br>
            <a:r>
              <a:rPr lang="en-US" dirty="0"/>
              <a:t>5. Compute partial sums in parallel</a:t>
            </a:r>
            <a:br>
              <a:rPr lang="en-US" dirty="0"/>
            </a:br>
            <a:r>
              <a:rPr lang="en-US" dirty="0"/>
              <a:t>6. Combine and store results</a:t>
            </a:r>
            <a:br>
              <a:rPr lang="en-US" dirty="0"/>
            </a:br>
            <a:r>
              <a:rPr lang="en-US" dirty="0"/>
              <a:t>7. Notify manager threads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F163B48-7DAC-79C0-49C3-EA5648CAFD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0621" y="1971449"/>
            <a:ext cx="5772150" cy="198443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7DD158-8775-D326-E8A2-DEA92A9D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64" y="365125"/>
            <a:ext cx="6065113" cy="1325563"/>
          </a:xfrm>
        </p:spPr>
        <p:txBody>
          <a:bodyPr/>
          <a:lstStyle/>
          <a:p>
            <a:r>
              <a:rPr lang="en-US" dirty="0"/>
              <a:t>Multithread Solution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395FF-1A3E-6D1D-791C-517B4F2E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4D7A0E-3DCD-B59C-8124-1E58D8DDD71B}"/>
                  </a:ext>
                </a:extLst>
              </p:cNvPr>
              <p:cNvSpPr txBox="1"/>
              <p:nvPr/>
            </p:nvSpPr>
            <p:spPr>
              <a:xfrm>
                <a:off x="5983355" y="5040026"/>
                <a:ext cx="6248400" cy="890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indent="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b="1">
                    <a:solidFill>
                      <a:schemeClr val="tx2"/>
                    </a:solidFill>
                  </a:defRPr>
                </a:lvl1pPr>
                <a:lvl2pPr marL="685783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2"/>
                    </a:solidFill>
                  </a:defRPr>
                </a:lvl2pPr>
                <a:lvl3pPr marL="1142971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</a:defRPr>
                </a:lvl3pPr>
                <a:lvl4pPr marL="1600160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4pPr>
                <a:lvl5pPr marL="2057349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2"/>
                    </a:solidFill>
                  </a:defRPr>
                </a:lvl5pPr>
                <a:lvl6pPr marL="2514537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726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8914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103" indent="-228594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Key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sz="1900" b="0" dirty="0"/>
                  <a:t>Ex : C(4) = C(0)C(3)+C(1)C(2)+C(2)C(1)+C(3)C(0)=5+2+2+5 = 14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4D7A0E-3DCD-B59C-8124-1E58D8DDD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355" y="5040026"/>
                <a:ext cx="6248400" cy="890500"/>
              </a:xfrm>
              <a:prstGeom prst="rect">
                <a:avLst/>
              </a:prstGeom>
              <a:blipFill>
                <a:blip r:embed="rId3"/>
                <a:stretch>
                  <a:fillRect l="-1561" t="-1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CED00D9-0798-BEC8-59CB-30CC098F6057}"/>
              </a:ext>
            </a:extLst>
          </p:cNvPr>
          <p:cNvSpPr txBox="1"/>
          <p:nvPr/>
        </p:nvSpPr>
        <p:spPr>
          <a:xfrm>
            <a:off x="6189268" y="810704"/>
            <a:ext cx="6097554" cy="86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tx2"/>
                </a:solidFill>
              </a:defRPr>
            </a:lvl1pPr>
            <a:lvl2pPr marL="685783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2pPr>
            <a:lvl3pPr marL="1142971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3pPr>
            <a:lvl4pPr marL="1600160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349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537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726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914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103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Goal: </a:t>
            </a:r>
            <a:r>
              <a:rPr lang="en-US" b="0" dirty="0"/>
              <a:t>compute Catalan numbers C(0) to C(n) </a:t>
            </a:r>
          </a:p>
        </p:txBody>
      </p:sp>
    </p:spTree>
    <p:extLst>
      <p:ext uri="{BB962C8B-B14F-4D97-AF65-F5344CB8AC3E}">
        <p14:creationId xmlns:p14="http://schemas.microsoft.com/office/powerpoint/2010/main" val="204386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F6ED-3640-AFF1-4116-AC1BDCC5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DF440-B156-2739-EC49-CD48F34D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2EC52B-D92E-EEC3-FDEB-571C6E6E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078" y="867475"/>
            <a:ext cx="6442693" cy="428639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90541E3-8677-8F82-F7BF-357D6C8E5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64" y="1446245"/>
            <a:ext cx="7090218" cy="473072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lvl="1"/>
            <a:r>
              <a:rPr lang="en-US" dirty="0"/>
              <a:t>Execute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input</a:t>
            </a:r>
          </a:p>
          <a:p>
            <a:pPr lvl="1"/>
            <a:r>
              <a:rPr lang="en-US" dirty="0"/>
              <a:t>Read input.txt</a:t>
            </a:r>
          </a:p>
          <a:p>
            <a:pPr lvl="1"/>
            <a:r>
              <a:rPr lang="en-US" dirty="0"/>
              <a:t>Set C(0) = 1</a:t>
            </a:r>
          </a:p>
          <a:p>
            <a:pPr lvl="1"/>
            <a:r>
              <a:rPr lang="en-US" dirty="0"/>
              <a:t>Spawn manager threads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Program creates one thread per Catalan Number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Wait for dependencies to be satisfied</a:t>
            </a:r>
          </a:p>
          <a:p>
            <a:pPr lvl="1"/>
            <a:r>
              <a:rPr lang="en-US" dirty="0"/>
              <a:t>Managers wait until all previous Catalan numbers are computed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Split each recurrence into worker-thread chunks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Each manager uses up to 4 threads to compute inner calculation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partial sums in parallel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and store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Notify waiting threads</a:t>
            </a:r>
          </a:p>
          <a:p>
            <a:pPr marL="971539" lvl="1" indent="-514350">
              <a:buFont typeface="+mj-lt"/>
              <a:buAutoNum type="arabicPeriod"/>
            </a:pPr>
            <a:r>
              <a:rPr lang="en-US" dirty="0"/>
              <a:t>Each manager begins work once </a:t>
            </a:r>
            <a:r>
              <a:rPr lang="pl-PL" dirty="0"/>
              <a:t>C(0)…C(n−1)</a:t>
            </a:r>
            <a:r>
              <a:rPr lang="en-US" dirty="0"/>
              <a:t> are computed</a:t>
            </a:r>
          </a:p>
        </p:txBody>
      </p:sp>
    </p:spTree>
    <p:extLst>
      <p:ext uri="{BB962C8B-B14F-4D97-AF65-F5344CB8AC3E}">
        <p14:creationId xmlns:p14="http://schemas.microsoft.com/office/powerpoint/2010/main" val="330981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60E5-37E5-3A10-808B-CBB9DC1C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2E6F4A-452F-0A37-CE17-BD2EE23CA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6224" y="859253"/>
            <a:ext cx="4258269" cy="200052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65F81-02CA-5378-79A8-C3476530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2A094-4503-8CFA-7967-27B134A0F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381" y="3062607"/>
            <a:ext cx="4143953" cy="2448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3D8EF8-189E-177B-FFA9-EEEF1A356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93" y="944525"/>
            <a:ext cx="4105848" cy="23148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210DC5-F4F5-DA3F-F5B4-2FEC74416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493" y="3329345"/>
            <a:ext cx="4105848" cy="21815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29781F-2574-83AB-1573-DAEC4C3A2A76}"/>
              </a:ext>
            </a:extLst>
          </p:cNvPr>
          <p:cNvSpPr/>
          <p:nvPr/>
        </p:nvSpPr>
        <p:spPr>
          <a:xfrm>
            <a:off x="3708197" y="2638295"/>
            <a:ext cx="3497344" cy="202825"/>
          </a:xfrm>
          <a:prstGeom prst="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BCD392-7487-3340-615F-0F9F3A91BABF}"/>
              </a:ext>
            </a:extLst>
          </p:cNvPr>
          <p:cNvSpPr/>
          <p:nvPr/>
        </p:nvSpPr>
        <p:spPr>
          <a:xfrm>
            <a:off x="3708197" y="5345051"/>
            <a:ext cx="3497344" cy="202825"/>
          </a:xfrm>
          <a:prstGeom prst="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7EE609-84A9-6273-8EB4-614DBF752B03}"/>
              </a:ext>
            </a:extLst>
          </p:cNvPr>
          <p:cNvSpPr/>
          <p:nvPr/>
        </p:nvSpPr>
        <p:spPr>
          <a:xfrm>
            <a:off x="7997334" y="3034098"/>
            <a:ext cx="3497344" cy="202825"/>
          </a:xfrm>
          <a:prstGeom prst="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6C791C-F75F-8810-ADCA-FEC3FAFA1EAE}"/>
              </a:ext>
            </a:extLst>
          </p:cNvPr>
          <p:cNvSpPr/>
          <p:nvPr/>
        </p:nvSpPr>
        <p:spPr>
          <a:xfrm>
            <a:off x="7997334" y="5326550"/>
            <a:ext cx="3497344" cy="202825"/>
          </a:xfrm>
          <a:prstGeom prst="rect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019782-9F36-8701-CDAB-367875343CAD}"/>
              </a:ext>
            </a:extLst>
          </p:cNvPr>
          <p:cNvSpPr/>
          <p:nvPr/>
        </p:nvSpPr>
        <p:spPr>
          <a:xfrm>
            <a:off x="3796223" y="1514569"/>
            <a:ext cx="4201109" cy="202825"/>
          </a:xfrm>
          <a:prstGeom prst="rect">
            <a:avLst/>
          </a:prstGeom>
          <a:solidFill>
            <a:srgbClr val="92D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793849-E58E-E410-A6EF-F0B17BF9C9EE}"/>
              </a:ext>
            </a:extLst>
          </p:cNvPr>
          <p:cNvSpPr/>
          <p:nvPr/>
        </p:nvSpPr>
        <p:spPr>
          <a:xfrm>
            <a:off x="3853381" y="3858406"/>
            <a:ext cx="4143952" cy="202825"/>
          </a:xfrm>
          <a:prstGeom prst="rect">
            <a:avLst/>
          </a:prstGeom>
          <a:solidFill>
            <a:srgbClr val="92D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7F0EF9-439B-956F-48D3-ED7700AD2FF5}"/>
              </a:ext>
            </a:extLst>
          </p:cNvPr>
          <p:cNvSpPr/>
          <p:nvPr/>
        </p:nvSpPr>
        <p:spPr>
          <a:xfrm>
            <a:off x="7959232" y="2537147"/>
            <a:ext cx="4201109" cy="202825"/>
          </a:xfrm>
          <a:prstGeom prst="rect">
            <a:avLst/>
          </a:prstGeom>
          <a:solidFill>
            <a:srgbClr val="92D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39B4C7-730A-1A3B-669A-3568FA66424C}"/>
              </a:ext>
            </a:extLst>
          </p:cNvPr>
          <p:cNvSpPr/>
          <p:nvPr/>
        </p:nvSpPr>
        <p:spPr>
          <a:xfrm>
            <a:off x="7959231" y="4500315"/>
            <a:ext cx="4201109" cy="202825"/>
          </a:xfrm>
          <a:prstGeom prst="rect">
            <a:avLst/>
          </a:prstGeom>
          <a:solidFill>
            <a:srgbClr val="92D05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A47BED-8063-C5E7-031B-FB55B586C2CF}"/>
              </a:ext>
            </a:extLst>
          </p:cNvPr>
          <p:cNvSpPr txBox="1"/>
          <p:nvPr/>
        </p:nvSpPr>
        <p:spPr>
          <a:xfrm>
            <a:off x="402264" y="1514569"/>
            <a:ext cx="3248772" cy="1200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594" indent="-22859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2"/>
                </a:solidFill>
              </a:defRPr>
            </a:lvl1pPr>
            <a:lvl2pPr marL="685783" lvl="1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2pPr>
            <a:lvl3pPr marL="1142971" lvl="2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i="1">
                <a:solidFill>
                  <a:schemeClr val="tx2"/>
                </a:solidFill>
                <a:latin typeface="Cambria Math" panose="02040503050406030204" pitchFamily="18" charset="0"/>
              </a:defRPr>
            </a:lvl3pPr>
            <a:lvl4pPr marL="1600160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4pPr>
            <a:lvl5pPr marL="2057349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5pPr>
            <a:lvl6pPr marL="2514537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726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914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103" indent="-22859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Each manager waits until all dependencies are satisfied before executing their own Catalan number</a:t>
            </a:r>
          </a:p>
        </p:txBody>
      </p:sp>
    </p:spTree>
    <p:extLst>
      <p:ext uri="{BB962C8B-B14F-4D97-AF65-F5344CB8AC3E}">
        <p14:creationId xmlns:p14="http://schemas.microsoft.com/office/powerpoint/2010/main" val="412353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CB4130-9A41-8AF1-6C0A-87F6984F894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8308" y="1433913"/>
                <a:ext cx="6814729" cy="435133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Multithreaded solution matches values of single threaded</a:t>
                </a:r>
              </a:p>
              <a:p>
                <a:r>
                  <a:rPr lang="en-US" dirty="0"/>
                  <a:t>Single threaded is faster:</a:t>
                </a:r>
              </a:p>
              <a:p>
                <a:pPr lvl="1"/>
                <a:r>
                  <a:rPr lang="en-US" dirty="0"/>
                  <a:t>Manager threads are still sequential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−1 −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tiny</a:t>
                </a:r>
              </a:p>
              <a:p>
                <a:pPr lvl="2"/>
                <a:r>
                  <a:rPr lang="en-US" dirty="0"/>
                  <a:t>Too small to justify thread</a:t>
                </a:r>
              </a:p>
              <a:p>
                <a:pPr lvl="1"/>
                <a:r>
                  <a:rPr lang="en-US" dirty="0"/>
                  <a:t>Synchronization and thread creation overhead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𝑇h𝑟𝑒𝑎𝑑𝑠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,4)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Ex : N = 15 Manager Threads</a:t>
                </a:r>
              </a:p>
              <a:p>
                <a:pPr lvl="2"/>
                <a:r>
                  <a:rPr lang="en-US" dirty="0"/>
                  <a:t>1+2+3+4+4+4+⋯+4 ​​= 6 + 48 = 54 Worker Threads</a:t>
                </a:r>
              </a:p>
              <a:p>
                <a:pPr lvl="2"/>
                <a:r>
                  <a:rPr lang="en-US" dirty="0"/>
                  <a:t>15 + 54 = 69 Total Threads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CB4130-9A41-8AF1-6C0A-87F6984F8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8308" y="1433913"/>
                <a:ext cx="6814729" cy="4351339"/>
              </a:xfrm>
              <a:blipFill>
                <a:blip r:embed="rId2"/>
                <a:stretch>
                  <a:fillRect l="-1342" t="-224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AC13388-1C89-A9B9-2F29-AE4A7B28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4D443-E7EC-4728-027E-CFC86273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A371BF7-71C9-C795-4F5E-0066BA117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18997" y="3857813"/>
            <a:ext cx="5087060" cy="962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E8120E-39C1-0125-2835-6A16555E4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471" y="1619126"/>
            <a:ext cx="5468113" cy="22386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5FECA0-262B-7032-C79A-3D6F217DE8C2}"/>
                  </a:ext>
                </a:extLst>
              </p:cNvPr>
              <p:cNvSpPr txBox="1"/>
              <p:nvPr/>
            </p:nvSpPr>
            <p:spPr>
              <a:xfrm>
                <a:off x="6563802" y="4916068"/>
                <a:ext cx="61145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lnSpc>
                    <a:spcPct val="90000"/>
                  </a:lnSpc>
                  <a:spcBef>
                    <a:spcPts val="500"/>
                  </a:spcBef>
                  <a:defRPr/>
                </a:pPr>
                <a:r>
                  <a:rPr kumimoji="0" lang="en-US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455F69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55F6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ingle</m:t>
                    </m:r>
                    <m:r>
                      <a:rPr kumimoji="0" 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55F6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55F6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Thread</m:t>
                    </m:r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55F6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</m:t>
                    </m:r>
                    <m:r>
                      <a:rPr lang="en-US" sz="2000" i="1" dirty="0">
                        <a:solidFill>
                          <a:srgbClr val="455F69"/>
                        </a:solidFill>
                        <a:latin typeface="Cambria Math" panose="02040503050406030204" pitchFamily="18" charset="0"/>
                      </a:rPr>
                      <m:t>2,000× </m:t>
                    </m:r>
                    <m:r>
                      <a:rPr lang="en-US" sz="2000" i="1" dirty="0">
                        <a:solidFill>
                          <a:srgbClr val="455F69"/>
                        </a:solidFill>
                        <a:latin typeface="Cambria Math" panose="02040503050406030204" pitchFamily="18" charset="0"/>
                      </a:rPr>
                      <m:t>𝑓𝑎𝑠𝑡𝑒𝑟</m:t>
                    </m:r>
                    <m:r>
                      <a:rPr lang="en-US" sz="2000" b="0" i="0" dirty="0" smtClean="0">
                        <a:solidFill>
                          <a:srgbClr val="455F69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kumimoji="0" lang="en-US" sz="2000" b="0" u="none" strike="noStrike" kern="1200" cap="none" spc="0" normalizeH="0" baseline="0" noProof="0" dirty="0">
                  <a:ln>
                    <a:noFill/>
                  </a:ln>
                  <a:solidFill>
                    <a:srgbClr val="455F69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5FECA0-262B-7032-C79A-3D6F217DE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802" y="4916068"/>
                <a:ext cx="6114552" cy="369332"/>
              </a:xfrm>
              <a:prstGeom prst="rect">
                <a:avLst/>
              </a:prstGeom>
              <a:blipFill>
                <a:blip r:embed="rId5"/>
                <a:stretch>
                  <a:fillRect t="-16393" b="-29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32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870588-E252-23C9-F404-2F04BFE7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5E256-9085-B3F3-2B3D-A1A079299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Introducing parallelism does not result in better performance</a:t>
            </a:r>
          </a:p>
          <a:p>
            <a:pPr lvl="1"/>
            <a:r>
              <a:rPr lang="en-US" dirty="0"/>
              <a:t>Time complexity is worse than sequential because overhead dependencies</a:t>
            </a:r>
          </a:p>
          <a:p>
            <a:pPr lvl="1"/>
            <a:r>
              <a:rPr lang="en-US" dirty="0"/>
              <a:t>Space complexity is worse than sequential because multithreaded still uses N manager threads and up to 4 worker threads</a:t>
            </a:r>
          </a:p>
          <a:p>
            <a: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55F6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Per-thread stack allocation is also higher</a:t>
            </a:r>
            <a:endParaRPr lang="en-US" dirty="0"/>
          </a:p>
          <a:p>
            <a:pPr lvl="1"/>
            <a:r>
              <a:rPr lang="en-US" dirty="0"/>
              <a:t>Per-worker workload is a single multiplication C(</a:t>
            </a:r>
            <a:r>
              <a:rPr lang="en-US" dirty="0" err="1"/>
              <a:t>i</a:t>
            </a:r>
            <a:r>
              <a:rPr lang="en-US" dirty="0"/>
              <a:t>)⋅C(n−1−i). </a:t>
            </a:r>
          </a:p>
          <a:p>
            <a:pPr lvl="1"/>
            <a:r>
              <a:rPr lang="en-US" dirty="0"/>
              <a:t>The overhead of creating a thread vastly exceeds the cost of that multiplication. </a:t>
            </a:r>
          </a:p>
          <a:p>
            <a:pPr lvl="1"/>
            <a:endParaRPr lang="en-US" dirty="0"/>
          </a:p>
          <a:p>
            <a:r>
              <a:rPr lang="en-US" dirty="0"/>
              <a:t>Project demonstrated proper thread creation, use of mutexes, condition variables, and guaranteeing mutual exclusion.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D0F43-8A7B-9794-1870-D2CBC42D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SOUTH FLORIDA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8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SF 1">
      <a:dk1>
        <a:srgbClr val="000000"/>
      </a:dk1>
      <a:lt1>
        <a:srgbClr val="FFFFFF"/>
      </a:lt1>
      <a:dk2>
        <a:srgbClr val="455F69"/>
      </a:dk2>
      <a:lt2>
        <a:srgbClr val="C9D2D7"/>
      </a:lt2>
      <a:accent1>
        <a:srgbClr val="006747"/>
      </a:accent1>
      <a:accent2>
        <a:srgbClr val="EDEBD1"/>
      </a:accent2>
      <a:accent3>
        <a:srgbClr val="CFC393"/>
      </a:accent3>
      <a:accent4>
        <a:srgbClr val="9CCB3B"/>
      </a:accent4>
      <a:accent5>
        <a:srgbClr val="7E96A0"/>
      </a:accent5>
      <a:accent6>
        <a:srgbClr val="80B0A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30130</TotalTime>
  <Words>748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Calculating Catalan Numbers in a Multithreading System </vt:lpstr>
      <vt:lpstr>Catalan Numbers</vt:lpstr>
      <vt:lpstr>Computer Uses</vt:lpstr>
      <vt:lpstr>Problem</vt:lpstr>
      <vt:lpstr>Observations</vt:lpstr>
      <vt:lpstr>Possible Solution/Issues</vt:lpstr>
      <vt:lpstr>Multithread Solution</vt:lpstr>
      <vt:lpstr>Process Flow</vt:lpstr>
      <vt:lpstr>Results</vt:lpstr>
      <vt:lpstr>Performance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DiMercurio, Kyrstin</dc:creator>
  <cp:lastModifiedBy>Yoel Polanco</cp:lastModifiedBy>
  <cp:revision>141</cp:revision>
  <dcterms:created xsi:type="dcterms:W3CDTF">2021-02-15T17:05:56Z</dcterms:created>
  <dcterms:modified xsi:type="dcterms:W3CDTF">2026-04-20T21:37:28Z</dcterms:modified>
</cp:coreProperties>
</file>