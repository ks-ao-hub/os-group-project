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71" r:id="rId2"/>
    <p:sldId id="257" r:id="rId3"/>
    <p:sldId id="272" r:id="rId4"/>
    <p:sldId id="279" r:id="rId5"/>
    <p:sldId id="273" r:id="rId6"/>
    <p:sldId id="274" r:id="rId7"/>
    <p:sldId id="275" r:id="rId8"/>
    <p:sldId id="276" r:id="rId9"/>
    <p:sldId id="277" r:id="rId10"/>
    <p:sldId id="278" r:id="rId11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80A0"/>
    <a:srgbClr val="FF6987"/>
    <a:srgbClr val="CD794F"/>
    <a:srgbClr val="9CCB3B"/>
    <a:srgbClr val="009374"/>
    <a:srgbClr val="EDEBD1"/>
    <a:srgbClr val="006747"/>
    <a:srgbClr val="7E96A0"/>
    <a:srgbClr val="CAD2D8"/>
    <a:srgbClr val="80B0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190"/>
    <p:restoredTop sz="94674"/>
  </p:normalViewPr>
  <p:slideViewPr>
    <p:cSldViewPr snapToGrid="0" snapToObjects="1">
      <p:cViewPr varScale="1">
        <p:scale>
          <a:sx n="103" d="100"/>
          <a:sy n="103" d="100"/>
        </p:scale>
        <p:origin x="116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A80483-8405-594F-95F8-D3FBF1CBF06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8D8171-8004-1F48-80C5-5F8F56F051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21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- Full Patter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4B3CE40-2622-4F41-8961-58114E2237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350875"/>
            <a:ext cx="7886700" cy="2721942"/>
          </a:xfrm>
        </p:spPr>
        <p:txBody>
          <a:bodyPr anchor="b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3CEB366-DFFF-124E-8FB2-DD516677BB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23888" y="3122192"/>
            <a:ext cx="7886700" cy="676142"/>
          </a:xfrm>
        </p:spPr>
        <p:txBody>
          <a:bodyPr>
            <a:normAutofit/>
          </a:bodyPr>
          <a:lstStyle>
            <a:lvl1pPr marL="0" indent="0">
              <a:buNone/>
              <a:defRPr sz="2000" b="1" spc="100" baseline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3F3BBD9-46E9-8D4F-A360-C22BF20FBA4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3888" y="6157797"/>
            <a:ext cx="7886700" cy="2973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effectLst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Presenter Name // Date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F45DD4-339C-334E-8C02-D6D08DCD66D5}"/>
              </a:ext>
            </a:extLst>
          </p:cNvPr>
          <p:cNvSpPr/>
          <p:nvPr userDrawn="1"/>
        </p:nvSpPr>
        <p:spPr>
          <a:xfrm>
            <a:off x="729592" y="1041869"/>
            <a:ext cx="2224875" cy="45719"/>
          </a:xfrm>
          <a:prstGeom prst="rect">
            <a:avLst/>
          </a:prstGeom>
          <a:solidFill>
            <a:srgbClr val="9CCB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CCB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2281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- Patter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67F4A7CB-4718-A447-80A8-5473DB78B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5371" y="2094614"/>
            <a:ext cx="9391983" cy="2934587"/>
          </a:xfrm>
        </p:spPr>
        <p:txBody>
          <a:bodyPr anchor="b">
            <a:normAutofit/>
          </a:bodyPr>
          <a:lstStyle>
            <a:lvl1pPr algn="l">
              <a:defRPr sz="6000" b="1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E5BDA0-03D1-C146-9B1B-7C72703AA14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645371" y="5164286"/>
            <a:ext cx="9391983" cy="562570"/>
          </a:xfrm>
        </p:spPr>
        <p:txBody>
          <a:bodyPr>
            <a:normAutofit/>
          </a:bodyPr>
          <a:lstStyle>
            <a:lvl1pPr marL="0" indent="0" algn="l">
              <a:buNone/>
              <a:defRPr sz="2000" b="1" spc="100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1CF1996-1198-744A-8757-1DDCD1FC39F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645371" y="5998308"/>
            <a:ext cx="9391984" cy="317431"/>
          </a:xfrm>
        </p:spPr>
        <p:txBody>
          <a:bodyPr>
            <a:noAutofit/>
          </a:bodyPr>
          <a:lstStyle>
            <a:lvl1pPr marL="0" indent="0" algn="l">
              <a:buNone/>
              <a:defRPr sz="1600" b="0">
                <a:solidFill>
                  <a:schemeClr val="accent1"/>
                </a:solidFill>
                <a:effectLst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Presenter Name // Date</a:t>
            </a:r>
          </a:p>
        </p:txBody>
      </p:sp>
    </p:spTree>
    <p:extLst>
      <p:ext uri="{BB962C8B-B14F-4D97-AF65-F5344CB8AC3E}">
        <p14:creationId xmlns:p14="http://schemas.microsoft.com/office/powerpoint/2010/main" val="1573399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- Gradi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F41A4C7-71D0-F543-85C9-D64704F6B9E2}"/>
              </a:ext>
            </a:extLst>
          </p:cNvPr>
          <p:cNvSpPr txBox="1">
            <a:spLocks/>
          </p:cNvSpPr>
          <p:nvPr userDrawn="1"/>
        </p:nvSpPr>
        <p:spPr>
          <a:xfrm>
            <a:off x="1155514" y="2892056"/>
            <a:ext cx="9391983" cy="2137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kern="120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8765212-81AD-C342-9C12-8BB02A67A75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400009" y="4239253"/>
            <a:ext cx="9391983" cy="562570"/>
          </a:xfrm>
        </p:spPr>
        <p:txBody>
          <a:bodyPr>
            <a:normAutofit/>
          </a:bodyPr>
          <a:lstStyle>
            <a:lvl1pPr marL="0" indent="0" algn="ctr">
              <a:buNone/>
              <a:defRPr sz="2000" b="1" spc="1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89F87BE-4311-2B4D-A077-360A5BDA22C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400008" y="5073275"/>
            <a:ext cx="9391984" cy="317431"/>
          </a:xfrm>
        </p:spPr>
        <p:txBody>
          <a:bodyPr>
            <a:noAutofit/>
          </a:bodyPr>
          <a:lstStyle>
            <a:lvl1pPr marL="0" indent="0" algn="ctr">
              <a:buNone/>
              <a:defRPr sz="1600" b="0">
                <a:solidFill>
                  <a:schemeClr val="bg1"/>
                </a:solidFill>
                <a:effectLst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Presenter Name // Date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572D2B3-E9E1-8142-ACC5-5E65A9395F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0009" y="1966382"/>
            <a:ext cx="9391983" cy="2137145"/>
          </a:xfrm>
        </p:spPr>
        <p:txBody>
          <a:bodyPr anchor="b">
            <a:norm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1881816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264" y="365125"/>
            <a:ext cx="11410507" cy="1325563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2264" y="1825625"/>
            <a:ext cx="11410507" cy="4351339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0745E4-CF50-F14A-9132-FCC34309C172}"/>
              </a:ext>
            </a:extLst>
          </p:cNvPr>
          <p:cNvSpPr/>
          <p:nvPr userDrawn="1"/>
        </p:nvSpPr>
        <p:spPr>
          <a:xfrm>
            <a:off x="0" y="6219913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rgbClr val="009374"/>
              </a:solidFill>
            </a:endParaRPr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EAFC3AB-FC99-AE43-8446-A0A029A51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072B3ABB-4B87-4A4A-8769-A299692E6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343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2264" y="1799674"/>
            <a:ext cx="5541336" cy="4351339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2701" y="1815735"/>
            <a:ext cx="5520070" cy="4351339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979559-62B2-BF48-8F3A-9069A678D3AE}"/>
              </a:ext>
            </a:extLst>
          </p:cNvPr>
          <p:cNvSpPr/>
          <p:nvPr userDrawn="1"/>
        </p:nvSpPr>
        <p:spPr>
          <a:xfrm>
            <a:off x="0" y="6219913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2F84629-2AEE-AC46-A2B9-D64949968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4" y="365125"/>
            <a:ext cx="11410507" cy="1325563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1CC9F214-4B8F-A241-8F1B-D5E3B9778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229204AD-66DA-504B-8B4C-AA5187326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45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8307C2-269E-6B46-9210-24C46DB68A7C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9786AE96-593E-3F4B-956A-36180B15D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8594D8FC-9BA2-7B43-8255-2E9B93557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6819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09FDD1-20F6-A041-84EF-F23B06693DDB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8FE732FD-3F1B-8C41-AABB-86AC72BB8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70483349-AF9B-3144-ABCA-85EEF730D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969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93E3B2-14A7-1448-8CD6-3BBB6DBF6AA9}"/>
              </a:ext>
            </a:extLst>
          </p:cNvPr>
          <p:cNvSpPr/>
          <p:nvPr userDrawn="1"/>
        </p:nvSpPr>
        <p:spPr>
          <a:xfrm>
            <a:off x="0" y="6219913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Footer Placeholder 5">
            <a:extLst>
              <a:ext uri="{FF2B5EF4-FFF2-40B4-BE49-F238E27FC236}">
                <a16:creationId xmlns:a16="http://schemas.microsoft.com/office/drawing/2014/main" id="{8C2B3DFD-A919-2547-BB50-41E59A359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5E3EBCA8-C9B6-4146-BA77-60B44AEC7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812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208D45BA-F118-4448-BA38-034BBE44445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-1"/>
            <a:ext cx="6096000" cy="6217468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/>
            </a:lvl1pPr>
          </a:lstStyle>
          <a:p>
            <a:pPr marL="228600" lvl="0" indent="-228600"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C293F8-4E1A-5846-82A0-E53916ADD1FB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Content Placeholder 26">
            <a:extLst>
              <a:ext uri="{FF2B5EF4-FFF2-40B4-BE49-F238E27FC236}">
                <a16:creationId xmlns:a16="http://schemas.microsoft.com/office/drawing/2014/main" id="{CA685156-FE7B-2544-969A-7A1FCE2D18A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02265" y="1616151"/>
            <a:ext cx="5430253" cy="449940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189" indent="0">
              <a:buNone/>
              <a:defRPr sz="2000">
                <a:solidFill>
                  <a:schemeClr val="tx2"/>
                </a:solidFill>
              </a:defRPr>
            </a:lvl2pPr>
            <a:lvl3pPr marL="914377" indent="0">
              <a:buNone/>
              <a:defRPr sz="1800">
                <a:solidFill>
                  <a:schemeClr val="tx2"/>
                </a:solidFill>
              </a:defRPr>
            </a:lvl3pPr>
            <a:lvl4pPr marL="1371566" indent="0">
              <a:buNone/>
              <a:defRPr sz="1800">
                <a:solidFill>
                  <a:schemeClr val="tx2"/>
                </a:solidFill>
              </a:defRPr>
            </a:lvl4pPr>
            <a:lvl5pPr marL="1828755" indent="0">
              <a:buNone/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AE3C7A5-D987-6642-8759-74EFF7EA2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5" y="772701"/>
            <a:ext cx="5430254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1D042DFD-B5BC-FA48-977F-CFCA7F7F4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9FA86EF7-130D-564A-B96B-825B85BFB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8273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2264" y="1825625"/>
            <a:ext cx="6890076" cy="4057463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ct val="900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ct val="900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ct val="900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84BD442A-06D5-442D-801B-C03C06954C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540292" y="0"/>
            <a:ext cx="4651708" cy="6217467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4C1E35-476E-DC49-989E-58325A1DCCD5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052AC19-5F07-4D4A-9C6D-F8353253A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4" y="772701"/>
            <a:ext cx="6890075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13659B61-A781-0B47-9008-7F6690FC4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47C7CC0E-96D9-6644-B53D-9DE9FFD21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8288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2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84BD442A-06D5-442D-801B-C03C06954C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4651708" cy="3044858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FD1BD93F-60CD-49C7-86FC-9A96B0AD05E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3150642"/>
            <a:ext cx="4651708" cy="3052708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DEA8F8-FC46-AE40-836E-1F1356373439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671B4F4-B7CE-4C4F-B7A3-2BC62CB88A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3304" y="1825625"/>
            <a:ext cx="6890076" cy="4057463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ct val="900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ct val="900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ct val="900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D97DAD4-3DC5-9240-A8F4-0E40A6F3D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3304" y="772701"/>
            <a:ext cx="6890075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A72233A2-CB91-9640-A9FB-40F031FBA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BDE837D9-31FB-6747-BB5D-30313C296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2941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3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84BD442A-06D5-442D-801B-C03C06954C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540292" y="0"/>
            <a:ext cx="4651708" cy="2022145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FD1BD93F-60CD-49C7-86FC-9A96B0AD05E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540292" y="2133604"/>
            <a:ext cx="4651708" cy="1981196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67F90EF-484B-4356-8B48-1A6A30B07BA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540292" y="4226259"/>
            <a:ext cx="4651708" cy="1982967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C0A44D2-66BE-7D48-A9AA-5CD3E0CEFEC5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7ABA9CF-0A24-444C-AB70-18A7DF1FC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264" y="1825625"/>
            <a:ext cx="6890076" cy="4057463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ct val="900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ct val="900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ct val="900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5C99FBA0-60F6-434C-861C-F6CAF1C7B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4" y="772701"/>
            <a:ext cx="6890075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3E0A42E5-B548-F448-93F1-22FA96290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93612A34-351C-3A40-8806-466A7A174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27009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4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84BD442A-06D5-442D-801B-C03C06954C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" y="-1"/>
            <a:ext cx="4651708" cy="1972159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FD1BD93F-60CD-49C7-86FC-9A96B0AD05E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" y="2072643"/>
            <a:ext cx="2263242" cy="1972159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67F90EF-484B-4356-8B48-1A6A30B07BA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4145287"/>
            <a:ext cx="4651709" cy="2072179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B770C8F7-8D2A-4B6A-BF61-24775C13A40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2388468" y="2072643"/>
            <a:ext cx="2263242" cy="1972159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BBB07D-D36E-EF4E-8766-BDDCE6AD9879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446467BF-103E-D042-9F56-E8D47EC1F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816" y="1825625"/>
            <a:ext cx="6890076" cy="4057463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ct val="900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ct val="900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ct val="900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25C606F1-D2F6-D546-8440-5F168D4D8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6816" y="772701"/>
            <a:ext cx="6890075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F643ECD6-6049-594B-8CA6-9348B7B4B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UNIVERSITY OF SOUTH FLORIDA</a:t>
            </a:r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3F176444-485B-9E48-AA69-93CB59281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085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350C326-F360-A14D-9848-141A98A3BE83}"/>
              </a:ext>
            </a:extLst>
          </p:cNvPr>
          <p:cNvSpPr/>
          <p:nvPr userDrawn="1"/>
        </p:nvSpPr>
        <p:spPr>
          <a:xfrm>
            <a:off x="0" y="1"/>
            <a:ext cx="12192000" cy="6855553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2585FEE-3C3C-0C4A-B489-9B8D843817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116" y="2493335"/>
            <a:ext cx="10497768" cy="1871330"/>
          </a:xfrm>
        </p:spPr>
        <p:txBody>
          <a:bodyPr anchor="ctr">
            <a:normAutofit/>
          </a:bodyPr>
          <a:lstStyle>
            <a:lvl1pPr algn="ctr">
              <a:defRPr sz="44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Divider / Simple Break Section</a:t>
            </a:r>
          </a:p>
        </p:txBody>
      </p:sp>
    </p:spTree>
    <p:extLst>
      <p:ext uri="{BB962C8B-B14F-4D97-AF65-F5344CB8AC3E}">
        <p14:creationId xmlns:p14="http://schemas.microsoft.com/office/powerpoint/2010/main" val="18441507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Gradi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D092343-A20F-9344-8BD6-7CDD800CA1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116" y="2493335"/>
            <a:ext cx="10497768" cy="1871330"/>
          </a:xfrm>
        </p:spPr>
        <p:txBody>
          <a:bodyPr anchor="ctr">
            <a:normAutofit/>
          </a:bodyPr>
          <a:lstStyle>
            <a:lvl1pPr algn="ctr">
              <a:defRPr sz="44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Divider / Simple Break Section</a:t>
            </a:r>
          </a:p>
        </p:txBody>
      </p:sp>
    </p:spTree>
    <p:extLst>
      <p:ext uri="{BB962C8B-B14F-4D97-AF65-F5344CB8AC3E}">
        <p14:creationId xmlns:p14="http://schemas.microsoft.com/office/powerpoint/2010/main" val="27710424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Full Patter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8D55C-89B3-834C-BFFF-D077C63750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116" y="2493335"/>
            <a:ext cx="10497768" cy="1871330"/>
          </a:xfrm>
        </p:spPr>
        <p:txBody>
          <a:bodyPr anchor="ctr">
            <a:normAutofit/>
          </a:bodyPr>
          <a:lstStyle>
            <a:lvl1pPr algn="ctr">
              <a:defRPr sz="44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Divider / Simple Break Section</a:t>
            </a:r>
          </a:p>
        </p:txBody>
      </p:sp>
    </p:spTree>
    <p:extLst>
      <p:ext uri="{BB962C8B-B14F-4D97-AF65-F5344CB8AC3E}">
        <p14:creationId xmlns:p14="http://schemas.microsoft.com/office/powerpoint/2010/main" val="27924390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"/>
          <p:cNvSpPr>
            <a:spLocks noGrp="1"/>
          </p:cNvSpPr>
          <p:nvPr>
            <p:ph type="pic" sz="quarter" idx="10"/>
          </p:nvPr>
        </p:nvSpPr>
        <p:spPr>
          <a:xfrm>
            <a:off x="-3048" y="0"/>
            <a:ext cx="12198096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sz="2800" dirty="0"/>
            </a:lvl1pPr>
          </a:lstStyle>
          <a:p>
            <a:pPr marL="228600" lvl="0" indent="-228600" algn="ctr"/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6710987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"/>
          <p:cNvSpPr>
            <a:spLocks noGrp="1"/>
          </p:cNvSpPr>
          <p:nvPr>
            <p:ph type="pic" idx="22"/>
          </p:nvPr>
        </p:nvSpPr>
        <p:spPr bwMode="gray">
          <a:xfrm>
            <a:off x="6156960" y="0"/>
            <a:ext cx="60350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"/>
          <p:cNvSpPr>
            <a:spLocks noGrp="1"/>
          </p:cNvSpPr>
          <p:nvPr>
            <p:ph type="pic" idx="10"/>
          </p:nvPr>
        </p:nvSpPr>
        <p:spPr bwMode="gray">
          <a:xfrm>
            <a:off x="0" y="0"/>
            <a:ext cx="60350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4724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8F2DC234-8FA0-3D45-A2E6-8427DF8C1B9D}"/>
              </a:ext>
            </a:extLst>
          </p:cNvPr>
          <p:cNvSpPr>
            <a:spLocks noGrp="1"/>
          </p:cNvSpPr>
          <p:nvPr>
            <p:ph type="pic" idx="22"/>
          </p:nvPr>
        </p:nvSpPr>
        <p:spPr bwMode="gray">
          <a:xfrm>
            <a:off x="4107180" y="0"/>
            <a:ext cx="39776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D423D6B-2263-1143-9038-996FA4197F05}"/>
              </a:ext>
            </a:extLst>
          </p:cNvPr>
          <p:cNvSpPr>
            <a:spLocks noGrp="1"/>
          </p:cNvSpPr>
          <p:nvPr>
            <p:ph type="pic" idx="10"/>
          </p:nvPr>
        </p:nvSpPr>
        <p:spPr bwMode="gray">
          <a:xfrm>
            <a:off x="0" y="0"/>
            <a:ext cx="39776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2B17B4A7-CF1A-0C48-A592-305AD063C6A4}"/>
              </a:ext>
            </a:extLst>
          </p:cNvPr>
          <p:cNvSpPr>
            <a:spLocks noGrp="1"/>
          </p:cNvSpPr>
          <p:nvPr>
            <p:ph type="pic" idx="25"/>
          </p:nvPr>
        </p:nvSpPr>
        <p:spPr bwMode="gray">
          <a:xfrm>
            <a:off x="8214360" y="0"/>
            <a:ext cx="39776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4675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15136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6B64B9-90AB-3045-9F9C-162A42097C10}"/>
              </a:ext>
            </a:extLst>
          </p:cNvPr>
          <p:cNvSpPr/>
          <p:nvPr userDrawn="1"/>
        </p:nvSpPr>
        <p:spPr>
          <a:xfrm>
            <a:off x="0" y="1"/>
            <a:ext cx="12192000" cy="6855553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3667351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Gradi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30486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E687FF-D228-AF49-87D5-A473DBACE8EB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UNIVERSITY OF SOUTH FLORIDA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B0964-E4AE-1949-A7E1-C41B06CBF5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500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6" r:id="rId2"/>
    <p:sldLayoutId id="2147483677" r:id="rId3"/>
    <p:sldLayoutId id="2147483662" r:id="rId4"/>
    <p:sldLayoutId id="2147483664" r:id="rId5"/>
    <p:sldLayoutId id="2147483663" r:id="rId6"/>
    <p:sldLayoutId id="2147483665" r:id="rId7"/>
    <p:sldLayoutId id="2147483668" r:id="rId8"/>
    <p:sldLayoutId id="2147483669" r:id="rId9"/>
    <p:sldLayoutId id="2147483678" r:id="rId10"/>
    <p:sldLayoutId id="2147483679" r:id="rId11"/>
    <p:sldLayoutId id="2147483680" r:id="rId12"/>
    <p:sldLayoutId id="2147483681" r:id="rId13"/>
    <p:sldLayoutId id="2147483666" r:id="rId14"/>
    <p:sldLayoutId id="2147483674" r:id="rId15"/>
    <p:sldLayoutId id="2147483675" r:id="rId16"/>
    <p:sldLayoutId id="2147483682" r:id="rId17"/>
    <p:sldLayoutId id="2147483683" r:id="rId18"/>
    <p:sldLayoutId id="2147483684" r:id="rId19"/>
    <p:sldLayoutId id="2147483667" r:id="rId20"/>
    <p:sldLayoutId id="2147483670" r:id="rId21"/>
    <p:sldLayoutId id="2147483685" r:id="rId22"/>
  </p:sldLayoutIdLst>
  <p:hf sldNum="0"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0345F3AF-49CF-CF48-BAE0-F175970B6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Calculating Catalan numbers in a Multithreading System 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3706B67-D139-684B-BAE9-AE684408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 6611 -  Operating Systems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663FB65-62ED-DD43-A749-E37142EB31FE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n-US" dirty="0"/>
              <a:t>Ariel Gomez, Yoel Polanco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2AB8D2-B6F8-DF47-8FE3-91912301541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12507" y="6066815"/>
            <a:ext cx="2828276" cy="48175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95A0142-FBA2-4045-AA65-848BAAA24F09}"/>
              </a:ext>
            </a:extLst>
          </p:cNvPr>
          <p:cNvSpPr/>
          <p:nvPr/>
        </p:nvSpPr>
        <p:spPr>
          <a:xfrm>
            <a:off x="1736589" y="5765478"/>
            <a:ext cx="2224875" cy="45719"/>
          </a:xfrm>
          <a:prstGeom prst="rect">
            <a:avLst/>
          </a:prstGeom>
          <a:solidFill>
            <a:srgbClr val="9CCB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CCB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1793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899071-5D4E-E842-8268-8CD319DBFD1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Sequence of numbers</a:t>
                </a:r>
              </a:p>
              <a:p>
                <a:pPr lvl="1"/>
                <a:r>
                  <a:rPr lang="en-US" dirty="0"/>
                  <a:t>&lt;1,1,2,5,14,42,132,429…&gt;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Appear in many computer science problems:</a:t>
                </a:r>
              </a:p>
              <a:p>
                <a:pPr lvl="1"/>
                <a:r>
                  <a:rPr lang="en-US" dirty="0"/>
                  <a:t>Balanced parenthesis</a:t>
                </a:r>
              </a:p>
              <a:p>
                <a:pPr lvl="1"/>
                <a:r>
                  <a:rPr lang="en-US" dirty="0"/>
                  <a:t>Mountain ranges</a:t>
                </a:r>
              </a:p>
              <a:p>
                <a:pPr lvl="1"/>
                <a:r>
                  <a:rPr lang="en-US" dirty="0"/>
                  <a:t>Binary trees</a:t>
                </a:r>
              </a:p>
              <a:p>
                <a:pPr lvl="1"/>
                <a:r>
                  <a:rPr lang="en-US" dirty="0"/>
                  <a:t>Hand across a table</a:t>
                </a:r>
              </a:p>
              <a:p>
                <a:pPr lvl="1"/>
                <a:r>
                  <a:rPr lang="en-US" dirty="0"/>
                  <a:t>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899071-5D4E-E842-8268-8CD319DBFD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80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2D4CEBBF-0110-FADA-C6C4-37DA4C4D032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388150" y="1027906"/>
            <a:ext cx="5515745" cy="29055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501552-3E8D-AC46-ADA9-3E2E03330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Catalan Numbers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74D134-B645-6440-A1F5-73CEC1A36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UNIVERSITY OF SOUTH FLORIDA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CB80B7D-91F0-072C-978B-935D1AC10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599" y="4465288"/>
            <a:ext cx="4286848" cy="1305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55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1555A-F350-3CF8-04A4-71144124F36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02264" y="1799674"/>
                <a:ext cx="6054520" cy="4351339"/>
              </a:xfrm>
            </p:spPr>
            <p:txBody>
              <a:bodyPr/>
              <a:lstStyle/>
              <a:p>
                <a:r>
                  <a:rPr lang="en-US" dirty="0"/>
                  <a:t>Sequence grows very fast!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𝐶𝑜𝑚𝑝𝑙𝑒𝑥𝑖𝑡𝑦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Every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requires summing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products</a:t>
                </a:r>
              </a:p>
              <a:p>
                <a:r>
                  <a:rPr lang="en-US" dirty="0"/>
                  <a:t>Memory grows with n</a:t>
                </a:r>
              </a:p>
              <a:p>
                <a:pPr lvl="1"/>
                <a:r>
                  <a:rPr lang="en-US" dirty="0"/>
                  <a:t>Need to store all values up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Quick overflow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1555A-F350-3CF8-04A4-71144124F3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02264" y="1799674"/>
                <a:ext cx="6054520" cy="4351339"/>
              </a:xfrm>
              <a:blipFill>
                <a:blip r:embed="rId2"/>
                <a:stretch>
                  <a:fillRect l="-181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F602B06-601E-6787-0493-5B1BFCFED8E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630032" y="2406666"/>
            <a:ext cx="5489804" cy="1829934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28AE832F-2D71-D278-EE41-040F14114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F8432E-66C9-8EB6-DD45-6FB8F2A47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945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FC38F14-52B9-8D90-DB5C-3C13B6D0F44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02264" y="1799674"/>
                <a:ext cx="4679945" cy="435133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depends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C_3 on C_2,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Partial sums can be parallelized </a:t>
                </a:r>
              </a:p>
              <a:p>
                <a:pPr lvl="1"/>
                <a:r>
                  <a:rPr lang="en-US" dirty="0"/>
                  <a:t>Thread 1 handles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Thread 2 handles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Parent thread sums the terms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FC38F14-52B9-8D90-DB5C-3C13B6D0F4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02264" y="1799674"/>
                <a:ext cx="4679945" cy="4351339"/>
              </a:xfrm>
              <a:blipFill>
                <a:blip r:embed="rId2"/>
                <a:stretch>
                  <a:fillRect l="-2344" t="-2381" r="-3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D4227124-A71A-DF3C-7543-93507A261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C4F44-90E4-A486-9C8D-24DA48153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7F6C5769-7E39-A43F-53EC-64E30FCEC4B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r="28369"/>
          <a:stretch>
            <a:fillRect/>
          </a:stretch>
        </p:blipFill>
        <p:spPr>
          <a:xfrm>
            <a:off x="5524835" y="1918353"/>
            <a:ext cx="6264901" cy="2915361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4FC83F5-ABC2-3894-3C15-FAFE50CA7F30}"/>
              </a:ext>
            </a:extLst>
          </p:cNvPr>
          <p:cNvSpPr/>
          <p:nvPr/>
        </p:nvSpPr>
        <p:spPr>
          <a:xfrm>
            <a:off x="6188766" y="2226365"/>
            <a:ext cx="735495" cy="400979"/>
          </a:xfrm>
          <a:prstGeom prst="round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3689925-820B-2D46-2DF1-112C5F005A15}"/>
              </a:ext>
            </a:extLst>
          </p:cNvPr>
          <p:cNvSpPr/>
          <p:nvPr/>
        </p:nvSpPr>
        <p:spPr>
          <a:xfrm>
            <a:off x="7147199" y="2627343"/>
            <a:ext cx="1539600" cy="400979"/>
          </a:xfrm>
          <a:prstGeom prst="roundRect">
            <a:avLst/>
          </a:prstGeom>
          <a:solidFill>
            <a:srgbClr val="F080A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2D4AAB-49D8-E96B-A692-55C7B62A8075}"/>
              </a:ext>
            </a:extLst>
          </p:cNvPr>
          <p:cNvSpPr/>
          <p:nvPr/>
        </p:nvSpPr>
        <p:spPr>
          <a:xfrm>
            <a:off x="6188766" y="2654519"/>
            <a:ext cx="735495" cy="400979"/>
          </a:xfrm>
          <a:prstGeom prst="round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DF16232-B9D5-1C25-F4CF-45D08FA94A64}"/>
              </a:ext>
            </a:extLst>
          </p:cNvPr>
          <p:cNvSpPr/>
          <p:nvPr/>
        </p:nvSpPr>
        <p:spPr>
          <a:xfrm>
            <a:off x="6192280" y="3082342"/>
            <a:ext cx="1576601" cy="400979"/>
          </a:xfrm>
          <a:prstGeom prst="round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3117D7-99A8-20C0-1304-7971A6B49BE2}"/>
              </a:ext>
            </a:extLst>
          </p:cNvPr>
          <p:cNvSpPr/>
          <p:nvPr/>
        </p:nvSpPr>
        <p:spPr>
          <a:xfrm>
            <a:off x="8065266" y="3055498"/>
            <a:ext cx="1539600" cy="400979"/>
          </a:xfrm>
          <a:prstGeom prst="roundRect">
            <a:avLst/>
          </a:prstGeom>
          <a:solidFill>
            <a:srgbClr val="F080A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FFA6D23-F3E4-6088-EC42-2068A8956399}"/>
              </a:ext>
            </a:extLst>
          </p:cNvPr>
          <p:cNvSpPr/>
          <p:nvPr/>
        </p:nvSpPr>
        <p:spPr>
          <a:xfrm>
            <a:off x="6185451" y="1798210"/>
            <a:ext cx="735495" cy="400979"/>
          </a:xfrm>
          <a:prstGeom prst="round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CBAB640-AED2-2CF7-85D9-944D39B03D12}"/>
              </a:ext>
            </a:extLst>
          </p:cNvPr>
          <p:cNvSpPr/>
          <p:nvPr/>
        </p:nvSpPr>
        <p:spPr>
          <a:xfrm>
            <a:off x="7140575" y="2209905"/>
            <a:ext cx="1539600" cy="400979"/>
          </a:xfrm>
          <a:prstGeom prst="roundRect">
            <a:avLst/>
          </a:prstGeom>
          <a:solidFill>
            <a:srgbClr val="F080A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186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52A18D-DBEB-07F5-D91D-0C0BB588AD5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02264" y="1799674"/>
                <a:ext cx="5905230" cy="43513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Plain recursion</a:t>
                </a:r>
              </a:p>
              <a:p>
                <a:pPr lvl="1"/>
                <a:r>
                  <a:rPr lang="en-US" dirty="0">
                    <a:solidFill>
                      <a:srgbClr val="00B0F0"/>
                    </a:solidFill>
                  </a:rPr>
                  <a:t>(+) </a:t>
                </a:r>
                <a:r>
                  <a:rPr lang="en-US" dirty="0"/>
                  <a:t>Easy recursive formula and code</a:t>
                </a:r>
              </a:p>
              <a:p>
                <a:pPr lvl="1"/>
                <a:r>
                  <a:rPr lang="en-US" dirty="0">
                    <a:solidFill>
                      <a:srgbClr val="00B0F0"/>
                    </a:solidFill>
                  </a:rPr>
                  <a:t>(+) </a:t>
                </a:r>
                <a:r>
                  <a:rPr lang="en-US" dirty="0"/>
                  <a:t>Fine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&lt;= 10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>
                    <a:solidFill>
                      <a:srgbClr val="FF6987"/>
                    </a:solidFill>
                  </a:rPr>
                  <a:t>(-) </a:t>
                </a:r>
                <a:r>
                  <a:rPr lang="en-US" dirty="0"/>
                  <a:t>Massive repeated work</a:t>
                </a:r>
              </a:p>
              <a:p>
                <a:pPr lvl="1"/>
                <a:r>
                  <a:rPr lang="en-US" dirty="0">
                    <a:solidFill>
                      <a:srgbClr val="FF6987"/>
                    </a:solidFill>
                  </a:rPr>
                  <a:t>(-) </a:t>
                </a:r>
                <a:r>
                  <a:rPr lang="en-US" dirty="0"/>
                  <a:t>Quick stack overflow</a:t>
                </a:r>
              </a:p>
              <a:p>
                <a:pPr lvl="1"/>
                <a:r>
                  <a:rPr lang="en-US" dirty="0">
                    <a:solidFill>
                      <a:srgbClr val="FF6987"/>
                    </a:solidFill>
                  </a:rPr>
                  <a:t>(-)</a:t>
                </a:r>
                <a:r>
                  <a:rPr lang="en-US" dirty="0"/>
                  <a:t> Does not scale</a:t>
                </a:r>
              </a:p>
              <a:p>
                <a:r>
                  <a:rPr lang="en-US" dirty="0"/>
                  <a:t>Memorized recursion</a:t>
                </a:r>
              </a:p>
              <a:p>
                <a:pPr lvl="1"/>
                <a:r>
                  <a:rPr lang="en-US" dirty="0">
                    <a:solidFill>
                      <a:srgbClr val="00B0F0"/>
                    </a:solidFill>
                  </a:rPr>
                  <a:t>(+)</a:t>
                </a:r>
                <a:r>
                  <a:rPr lang="en-US" dirty="0"/>
                  <a:t> Avoids repeated work</a:t>
                </a:r>
              </a:p>
              <a:p>
                <a:pPr lvl="1"/>
                <a:r>
                  <a:rPr lang="en-US" dirty="0">
                    <a:solidFill>
                      <a:srgbClr val="00B0F0"/>
                    </a:solidFill>
                  </a:rPr>
                  <a:t>(+)</a:t>
                </a:r>
                <a:r>
                  <a:rPr lang="en-US" dirty="0"/>
                  <a:t> Parallelizable</a:t>
                </a:r>
              </a:p>
              <a:p>
                <a:pPr lvl="1"/>
                <a:r>
                  <a:rPr lang="en-US" dirty="0">
                    <a:solidFill>
                      <a:srgbClr val="F080A0"/>
                    </a:solidFill>
                  </a:rPr>
                  <a:t>(-)</a:t>
                </a:r>
                <a:r>
                  <a:rPr lang="en-US" dirty="0"/>
                  <a:t> recursion overhead</a:t>
                </a:r>
              </a:p>
              <a:p>
                <a:r>
                  <a:rPr lang="en-US" dirty="0"/>
                  <a:t>Iterative DP</a:t>
                </a:r>
              </a:p>
              <a:p>
                <a:pPr lvl="1"/>
                <a:r>
                  <a:rPr lang="en-US" dirty="0">
                    <a:solidFill>
                      <a:srgbClr val="00B0F0"/>
                    </a:solidFill>
                  </a:rPr>
                  <a:t>(+) </a:t>
                </a:r>
                <a:r>
                  <a:rPr lang="en-US" dirty="0"/>
                  <a:t>fast</a:t>
                </a:r>
              </a:p>
              <a:p>
                <a:pPr lvl="1"/>
                <a:r>
                  <a:rPr lang="en-US" dirty="0">
                    <a:solidFill>
                      <a:srgbClr val="00B0F0"/>
                    </a:solidFill>
                  </a:rPr>
                  <a:t>(+)</a:t>
                </a:r>
                <a:r>
                  <a:rPr lang="en-US" dirty="0"/>
                  <a:t> stable</a:t>
                </a:r>
              </a:p>
              <a:p>
                <a:pPr lvl="1"/>
                <a:r>
                  <a:rPr lang="en-US" dirty="0">
                    <a:solidFill>
                      <a:srgbClr val="FF6987"/>
                    </a:solidFill>
                  </a:rPr>
                  <a:t>(-)</a:t>
                </a:r>
                <a:r>
                  <a:rPr lang="en-US" dirty="0"/>
                  <a:t> no parallelization</a:t>
                </a:r>
              </a:p>
              <a:p>
                <a:pPr lvl="1"/>
                <a:r>
                  <a:rPr lang="en-US" dirty="0">
                    <a:solidFill>
                      <a:srgbClr val="FF6987"/>
                    </a:solidFill>
                  </a:rPr>
                  <a:t>(-) </a:t>
                </a:r>
                <a:r>
                  <a:rPr lang="en-US" dirty="0"/>
                  <a:t>harder implementation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52A18D-DBEB-07F5-D91D-0C0BB588AD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02264" y="1799674"/>
                <a:ext cx="5905230" cy="4351339"/>
              </a:xfrm>
              <a:blipFill>
                <a:blip r:embed="rId2"/>
                <a:stretch>
                  <a:fillRect l="-1238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DD72F23-A12C-F229-13A4-62BB0DBCD58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799871" y="590978"/>
            <a:ext cx="4039164" cy="192431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951B58-0855-2B93-5B27-11C3FB655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Solution/Issues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365555-6A05-2F81-9E6D-7A4293873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2C96384-F66A-0FF0-DA94-FF5333D8C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9871" y="2796059"/>
            <a:ext cx="4791744" cy="32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829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405C86-1588-F943-FD88-08AD735CF1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2264" y="1390262"/>
            <a:ext cx="5541336" cy="476075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Methodology:</a:t>
            </a:r>
          </a:p>
          <a:p>
            <a:pPr marL="0" indent="0">
              <a:buNone/>
            </a:pPr>
            <a:r>
              <a:rPr lang="en-US" dirty="0"/>
              <a:t>1. Initialize C(0)</a:t>
            </a:r>
            <a:br>
              <a:rPr lang="en-US" dirty="0"/>
            </a:br>
            <a:r>
              <a:rPr lang="en-US" dirty="0"/>
              <a:t>2. Assign one manager thread per Catalan number</a:t>
            </a:r>
            <a:br>
              <a:rPr lang="en-US" dirty="0"/>
            </a:br>
            <a:r>
              <a:rPr lang="en-US" dirty="0"/>
              <a:t>3. Wait for dependencies to be satisfied</a:t>
            </a:r>
            <a:br>
              <a:rPr lang="en-US" dirty="0"/>
            </a:br>
            <a:r>
              <a:rPr lang="en-US" dirty="0"/>
              <a:t>4. Split each recurrence into worker-thread chunks</a:t>
            </a:r>
            <a:br>
              <a:rPr lang="en-US" dirty="0"/>
            </a:br>
            <a:r>
              <a:rPr lang="en-US" dirty="0"/>
              <a:t>5. Compute partial sums in parallel</a:t>
            </a:r>
            <a:br>
              <a:rPr lang="en-US" dirty="0"/>
            </a:br>
            <a:r>
              <a:rPr lang="en-US" dirty="0"/>
              <a:t>6. Combine and store results</a:t>
            </a:r>
            <a:br>
              <a:rPr lang="en-US" dirty="0"/>
            </a:br>
            <a:r>
              <a:rPr lang="en-US" dirty="0"/>
              <a:t>7. Notify manager threads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8F163B48-7DAC-79C0-49C3-EA5648CAFDC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40621" y="1971449"/>
            <a:ext cx="5772150" cy="1984433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57DD158-8775-D326-E8A2-DEA92A9DA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4" y="365125"/>
            <a:ext cx="6065113" cy="1325563"/>
          </a:xfrm>
        </p:spPr>
        <p:txBody>
          <a:bodyPr/>
          <a:lstStyle/>
          <a:p>
            <a:r>
              <a:rPr lang="en-US" dirty="0"/>
              <a:t>Multithread solution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1395FF-1A3E-6D1D-791C-517B4F2E7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4D7A0E-3DCD-B59C-8124-1E58D8DDD71B}"/>
                  </a:ext>
                </a:extLst>
              </p:cNvPr>
              <p:cNvSpPr txBox="1"/>
              <p:nvPr/>
            </p:nvSpPr>
            <p:spPr>
              <a:xfrm>
                <a:off x="6467377" y="4881000"/>
                <a:ext cx="5541336" cy="8905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>
                    <a:solidFill>
                      <a:schemeClr val="tx2"/>
                    </a:solidFill>
                  </a:defRPr>
                </a:lvl1pPr>
                <a:lvl2pPr marL="685783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2"/>
                    </a:solidFill>
                  </a:defRPr>
                </a:lvl2pPr>
                <a:lvl3pPr marL="1142971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2"/>
                    </a:solidFill>
                  </a:defRPr>
                </a:lvl3pPr>
                <a:lvl4pPr marL="1600160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2"/>
                    </a:solidFill>
                  </a:defRPr>
                </a:lvl4pPr>
                <a:lvl5pPr marL="2057349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2"/>
                    </a:solidFill>
                  </a:defRPr>
                </a:lvl5pPr>
                <a:lvl6pPr marL="2514537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726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8914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103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Key formula: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/>
                          <m:t>𝐶</m:t>
                        </m:r>
                      </m:e>
                      <m:sub>
                        <m:r>
                          <a:rPr lang="en-US"/>
                          <m:t>𝑛</m:t>
                        </m:r>
                      </m:sub>
                    </m:sSub>
                    <m:r>
                      <a:rPr lang="en-US"/>
                      <m:t>= </m:t>
                    </m:r>
                    <m:nary>
                      <m:naryPr>
                        <m:chr m:val="∑"/>
                        <m:ctrlPr>
                          <a:rPr lang="en-US"/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/>
                          <m:t>𝑖</m:t>
                        </m:r>
                        <m:r>
                          <a:rPr lang="en-US"/>
                          <m:t>=0</m:t>
                        </m:r>
                      </m:sub>
                      <m:sup>
                        <m:r>
                          <a:rPr lang="en-US"/>
                          <m:t>𝑛</m:t>
                        </m:r>
                        <m:r>
                          <a:rPr lang="en-US"/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/>
                            </m:ctrlPr>
                          </m:sSubPr>
                          <m:e>
                            <m:r>
                              <a:rPr lang="en-US"/>
                              <m:t>𝐶</m:t>
                            </m:r>
                          </m:e>
                          <m:sub>
                            <m:r>
                              <a:rPr lang="en-US"/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/>
                            </m:ctrlPr>
                          </m:sSubPr>
                          <m:e>
                            <m:r>
                              <a:rPr lang="en-US"/>
                              <m:t>𝐶</m:t>
                            </m:r>
                          </m:e>
                          <m:sub>
                            <m:r>
                              <a:rPr lang="en-US"/>
                              <m:t>𝑛</m:t>
                            </m:r>
                            <m:r>
                              <a:rPr lang="en-US"/>
                              <m:t>−1−</m:t>
                            </m:r>
                            <m:r>
                              <a:rPr lang="en-US"/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4D7A0E-3DCD-B59C-8124-1E58D8DDD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7377" y="4881000"/>
                <a:ext cx="5541336" cy="890500"/>
              </a:xfrm>
              <a:prstGeom prst="rect">
                <a:avLst/>
              </a:prstGeom>
              <a:blipFill>
                <a:blip r:embed="rId3"/>
                <a:stretch>
                  <a:fillRect l="-2310" t="-102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0CED00D9-0798-BEC8-59CB-30CC098F6057}"/>
              </a:ext>
            </a:extLst>
          </p:cNvPr>
          <p:cNvSpPr txBox="1"/>
          <p:nvPr/>
        </p:nvSpPr>
        <p:spPr>
          <a:xfrm>
            <a:off x="6189268" y="810704"/>
            <a:ext cx="6097554" cy="8679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>
                <a:solidFill>
                  <a:schemeClr val="tx2"/>
                </a:solidFill>
              </a:defRPr>
            </a:lvl1pPr>
            <a:lvl2pPr marL="685783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2"/>
                </a:solidFill>
              </a:defRPr>
            </a:lvl2pPr>
            <a:lvl3pPr marL="1142971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</a:defRPr>
            </a:lvl3pPr>
            <a:lvl4pPr marL="1600160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4pPr>
            <a:lvl5pPr marL="2057349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5pPr>
            <a:lvl6pPr marL="2514537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726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8914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103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Goal: </a:t>
            </a:r>
            <a:r>
              <a:rPr lang="en-US" b="0" dirty="0"/>
              <a:t>compute Catalan numbers C(0) to C(n) </a:t>
            </a:r>
          </a:p>
        </p:txBody>
      </p:sp>
    </p:spTree>
    <p:extLst>
      <p:ext uri="{BB962C8B-B14F-4D97-AF65-F5344CB8AC3E}">
        <p14:creationId xmlns:p14="http://schemas.microsoft.com/office/powerpoint/2010/main" val="2043867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6F6ED-3640-AFF1-4116-AC1BDCC56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F440-B156-2739-EC49-CD48F34D5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D2EC52B-D92E-EEC3-FDEB-571C6E6E1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078" y="867475"/>
            <a:ext cx="6442693" cy="4286390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90541E3-8677-8F82-F7BF-357D6C8E5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264" y="1446245"/>
            <a:ext cx="7090218" cy="4730720"/>
          </a:xfrm>
        </p:spPr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Start</a:t>
            </a:r>
          </a:p>
          <a:p>
            <a:pPr lvl="1"/>
            <a:r>
              <a:rPr lang="en-US" dirty="0"/>
              <a:t>Execute program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Read input</a:t>
            </a:r>
          </a:p>
          <a:p>
            <a:pPr lvl="1"/>
            <a:r>
              <a:rPr lang="en-US" dirty="0"/>
              <a:t>Read input.txt</a:t>
            </a:r>
          </a:p>
          <a:p>
            <a:pPr lvl="1"/>
            <a:r>
              <a:rPr lang="en-US" dirty="0"/>
              <a:t>Set C(0) and C(1) = 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Spawn manager threads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Program creates one thread per Catalan Number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Wait for dependencies to be satisfied</a:t>
            </a:r>
          </a:p>
          <a:p>
            <a:pPr lvl="1"/>
            <a:r>
              <a:rPr lang="en-US" dirty="0"/>
              <a:t>Managers wait until all previous Catalan numbers are computed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Split each recurrence into worker-thread chunks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Each manager uses up to 4 threads to compute inner calculation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partial sums in parallel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Combine and store results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Notify waiting threads</a:t>
            </a:r>
          </a:p>
          <a:p>
            <a:pPr marL="971539" lvl="1" indent="-514350">
              <a:buFont typeface="+mj-lt"/>
              <a:buAutoNum type="arabicPeriod"/>
            </a:pPr>
            <a:r>
              <a:rPr lang="en-US" dirty="0"/>
              <a:t>Each manager begins work once C(n-1) are computed</a:t>
            </a:r>
          </a:p>
        </p:txBody>
      </p:sp>
    </p:spTree>
    <p:extLst>
      <p:ext uri="{BB962C8B-B14F-4D97-AF65-F5344CB8AC3E}">
        <p14:creationId xmlns:p14="http://schemas.microsoft.com/office/powerpoint/2010/main" val="33098149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760E5-37E5-3A10-808B-CBB9DC1C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B2E6F4A-452F-0A37-CE17-BD2EE23CA9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96224" y="859253"/>
            <a:ext cx="4258269" cy="2000529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465F81-02CA-5378-79A8-C3476530A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E02A094-4503-8CFA-7967-27B134A0F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381" y="3062607"/>
            <a:ext cx="4143953" cy="244826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3D8EF8-189E-177B-FFA9-EEEF1A356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4493" y="944525"/>
            <a:ext cx="4105848" cy="23148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4210DC5-F4F5-DA3F-F5B4-2FEC744164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493" y="3329345"/>
            <a:ext cx="4105848" cy="2181529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229781F-2574-83AB-1573-DAEC4C3A2A76}"/>
              </a:ext>
            </a:extLst>
          </p:cNvPr>
          <p:cNvSpPr/>
          <p:nvPr/>
        </p:nvSpPr>
        <p:spPr>
          <a:xfrm>
            <a:off x="3708197" y="2638295"/>
            <a:ext cx="3497344" cy="202825"/>
          </a:xfrm>
          <a:prstGeom prst="rect">
            <a:avLst/>
          </a:prstGeom>
          <a:solidFill>
            <a:srgbClr val="00B0F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BCD392-7487-3340-615F-0F9F3A91BABF}"/>
              </a:ext>
            </a:extLst>
          </p:cNvPr>
          <p:cNvSpPr/>
          <p:nvPr/>
        </p:nvSpPr>
        <p:spPr>
          <a:xfrm>
            <a:off x="3708197" y="5345051"/>
            <a:ext cx="3497344" cy="202825"/>
          </a:xfrm>
          <a:prstGeom prst="rect">
            <a:avLst/>
          </a:prstGeom>
          <a:solidFill>
            <a:srgbClr val="00B0F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17EE609-84A9-6273-8EB4-614DBF752B03}"/>
              </a:ext>
            </a:extLst>
          </p:cNvPr>
          <p:cNvSpPr/>
          <p:nvPr/>
        </p:nvSpPr>
        <p:spPr>
          <a:xfrm>
            <a:off x="7997334" y="3034098"/>
            <a:ext cx="3497344" cy="202825"/>
          </a:xfrm>
          <a:prstGeom prst="rect">
            <a:avLst/>
          </a:prstGeom>
          <a:solidFill>
            <a:srgbClr val="00B0F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6C791C-F75F-8810-ADCA-FEC3FAFA1EAE}"/>
              </a:ext>
            </a:extLst>
          </p:cNvPr>
          <p:cNvSpPr/>
          <p:nvPr/>
        </p:nvSpPr>
        <p:spPr>
          <a:xfrm>
            <a:off x="7997334" y="5326550"/>
            <a:ext cx="3497344" cy="202825"/>
          </a:xfrm>
          <a:prstGeom prst="rect">
            <a:avLst/>
          </a:prstGeom>
          <a:solidFill>
            <a:srgbClr val="00B0F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019782-9F36-8701-CDAB-367875343CAD}"/>
              </a:ext>
            </a:extLst>
          </p:cNvPr>
          <p:cNvSpPr/>
          <p:nvPr/>
        </p:nvSpPr>
        <p:spPr>
          <a:xfrm>
            <a:off x="3796223" y="1514569"/>
            <a:ext cx="4201109" cy="202825"/>
          </a:xfrm>
          <a:prstGeom prst="rect">
            <a:avLst/>
          </a:prstGeom>
          <a:solidFill>
            <a:srgbClr val="92D05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3793849-E58E-E410-A6EF-F0B17BF9C9EE}"/>
              </a:ext>
            </a:extLst>
          </p:cNvPr>
          <p:cNvSpPr/>
          <p:nvPr/>
        </p:nvSpPr>
        <p:spPr>
          <a:xfrm>
            <a:off x="3853381" y="3858406"/>
            <a:ext cx="4143952" cy="202825"/>
          </a:xfrm>
          <a:prstGeom prst="rect">
            <a:avLst/>
          </a:prstGeom>
          <a:solidFill>
            <a:srgbClr val="92D05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7F0EF9-439B-956F-48D3-ED7700AD2FF5}"/>
              </a:ext>
            </a:extLst>
          </p:cNvPr>
          <p:cNvSpPr/>
          <p:nvPr/>
        </p:nvSpPr>
        <p:spPr>
          <a:xfrm>
            <a:off x="7959232" y="2537147"/>
            <a:ext cx="4201109" cy="202825"/>
          </a:xfrm>
          <a:prstGeom prst="rect">
            <a:avLst/>
          </a:prstGeom>
          <a:solidFill>
            <a:srgbClr val="92D05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D39B4C7-730A-1A3B-669A-3568FA66424C}"/>
              </a:ext>
            </a:extLst>
          </p:cNvPr>
          <p:cNvSpPr/>
          <p:nvPr/>
        </p:nvSpPr>
        <p:spPr>
          <a:xfrm>
            <a:off x="7959231" y="4500315"/>
            <a:ext cx="4201109" cy="202825"/>
          </a:xfrm>
          <a:prstGeom prst="rect">
            <a:avLst/>
          </a:prstGeom>
          <a:solidFill>
            <a:srgbClr val="92D05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A47BED-8063-C5E7-031B-FB55B586C2CF}"/>
              </a:ext>
            </a:extLst>
          </p:cNvPr>
          <p:cNvSpPr txBox="1"/>
          <p:nvPr/>
        </p:nvSpPr>
        <p:spPr>
          <a:xfrm>
            <a:off x="402264" y="1514569"/>
            <a:ext cx="3248772" cy="12003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594" indent="-228594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2"/>
                </a:solidFill>
              </a:defRPr>
            </a:lvl1pPr>
            <a:lvl2pPr marL="685783" lvl="1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2"/>
                </a:solidFill>
              </a:defRPr>
            </a:lvl2pPr>
            <a:lvl3pPr marL="1142971" lvl="2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i="1">
                <a:solidFill>
                  <a:schemeClr val="tx2"/>
                </a:solidFill>
                <a:latin typeface="Cambria Math" panose="02040503050406030204" pitchFamily="18" charset="0"/>
              </a:defRPr>
            </a:lvl3pPr>
            <a:lvl4pPr marL="1600160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4pPr>
            <a:lvl5pPr marL="2057349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5pPr>
            <a:lvl6pPr marL="2514537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726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8914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103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Each manager waits until all dependencies are satisfied before executing their own Catalan number</a:t>
            </a:r>
          </a:p>
        </p:txBody>
      </p:sp>
    </p:spTree>
    <p:extLst>
      <p:ext uri="{BB962C8B-B14F-4D97-AF65-F5344CB8AC3E}">
        <p14:creationId xmlns:p14="http://schemas.microsoft.com/office/powerpoint/2010/main" val="4123538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CB4130-9A41-8AF1-6C0A-87F6984F894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02263" y="1799674"/>
                <a:ext cx="6814729" cy="435133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Multithreaded solution matches values of single threaded</a:t>
                </a:r>
              </a:p>
              <a:p>
                <a:r>
                  <a:rPr lang="en-US" dirty="0"/>
                  <a:t>Single threaded is faster:</a:t>
                </a:r>
              </a:p>
              <a:p>
                <a:pPr lvl="1"/>
                <a:r>
                  <a:rPr lang="en-US" dirty="0"/>
                  <a:t>Manager threads are still sequential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depends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tiny</a:t>
                </a:r>
              </a:p>
              <a:p>
                <a:pPr lvl="2"/>
                <a:r>
                  <a:rPr lang="en-US" dirty="0"/>
                  <a:t>Too small to justify thread</a:t>
                </a:r>
              </a:p>
              <a:p>
                <a:pPr lvl="1"/>
                <a:r>
                  <a:rPr lang="en-US" dirty="0"/>
                  <a:t>Synchronization and thread creation overhead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𝑇h𝑟𝑒𝑎𝑑𝑠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4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CB4130-9A41-8AF1-6C0A-87F6984F89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02263" y="1799674"/>
                <a:ext cx="6814729" cy="4351339"/>
              </a:xfrm>
              <a:blipFill>
                <a:blip r:embed="rId2"/>
                <a:stretch>
                  <a:fillRect l="-1610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4678555-E782-D5A3-A81D-B536D45A7C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216993" y="365125"/>
            <a:ext cx="4716860" cy="5647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C13388-1C89-A9B9-2F29-AE4A7B288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Comparison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C4D443-E7EC-4728-027E-CFC86273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321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870588-E252-23C9-F404-2F04BFE7C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25E256-9085-B3F3-2B3D-A1A079299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Introducing parallelism does not result in better performance</a:t>
            </a:r>
          </a:p>
          <a:p>
            <a:pPr lvl="1"/>
            <a:r>
              <a:rPr lang="en-US" dirty="0"/>
              <a:t>Time complexity is worse than sequential because overhead dependencies</a:t>
            </a:r>
          </a:p>
          <a:p>
            <a:pPr lvl="1"/>
            <a:r>
              <a:rPr lang="en-US" dirty="0"/>
              <a:t>Space complexity is worse than sequential because multithreaded still uses N manager threads and up to 4 worker threads</a:t>
            </a:r>
          </a:p>
          <a:p>
            <a:pPr lvl="2"/>
            <a:r>
              <a:rPr lang="en-US" dirty="0"/>
              <a:t>Pre-thread stack allocation is also higher</a:t>
            </a:r>
          </a:p>
          <a:p>
            <a:r>
              <a:rPr lang="en-US" dirty="0"/>
              <a:t>Project demonstrated proper thread creation, use of mutexes, condition variables, and guaranteeing mutual exclusion.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D0F43-8A7B-9794-1870-D2CBC42D8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SOUTH FLORIDA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985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SF 1">
      <a:dk1>
        <a:srgbClr val="000000"/>
      </a:dk1>
      <a:lt1>
        <a:srgbClr val="FFFFFF"/>
      </a:lt1>
      <a:dk2>
        <a:srgbClr val="455F69"/>
      </a:dk2>
      <a:lt2>
        <a:srgbClr val="C9D2D7"/>
      </a:lt2>
      <a:accent1>
        <a:srgbClr val="006747"/>
      </a:accent1>
      <a:accent2>
        <a:srgbClr val="EDEBD1"/>
      </a:accent2>
      <a:accent3>
        <a:srgbClr val="CFC393"/>
      </a:accent3>
      <a:accent4>
        <a:srgbClr val="9CCB3B"/>
      </a:accent4>
      <a:accent5>
        <a:srgbClr val="7E96A0"/>
      </a:accent5>
      <a:accent6>
        <a:srgbClr val="80B0A6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29920</TotalTime>
  <Words>504</Words>
  <Application>Microsoft Office PowerPoint</Application>
  <PresentationFormat>Widescreen</PresentationFormat>
  <Paragraphs>89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 Math</vt:lpstr>
      <vt:lpstr>Wingdings</vt:lpstr>
      <vt:lpstr>Office Theme</vt:lpstr>
      <vt:lpstr>Calculating Catalan numbers in a Multithreading System </vt:lpstr>
      <vt:lpstr>Catalan Numbers</vt:lpstr>
      <vt:lpstr>Problem</vt:lpstr>
      <vt:lpstr>Observations</vt:lpstr>
      <vt:lpstr>Possible Solution/Issues</vt:lpstr>
      <vt:lpstr>Multithread solution</vt:lpstr>
      <vt:lpstr>Process flow</vt:lpstr>
      <vt:lpstr>Results</vt:lpstr>
      <vt:lpstr>Performance Comparison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DiMercurio, Kyrstin</dc:creator>
  <cp:lastModifiedBy>Yoel Polanco</cp:lastModifiedBy>
  <cp:revision>131</cp:revision>
  <dcterms:created xsi:type="dcterms:W3CDTF">2021-02-15T17:05:56Z</dcterms:created>
  <dcterms:modified xsi:type="dcterms:W3CDTF">2026-04-18T15:44:34Z</dcterms:modified>
</cp:coreProperties>
</file>